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9CFD4-3D7B-4C09-B94F-99C404A783FD}" v="25" dt="2026-07-30T15:02:01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treyee Mahanta" userId="23a04f989b5f9c89" providerId="LiveId" clId="{0AE239F2-B129-4F2A-90D7-6C1E893C7A11}"/>
    <pc:docChg chg="modSld">
      <pc:chgData name="Maitreyee Mahanta" userId="23a04f989b5f9c89" providerId="LiveId" clId="{0AE239F2-B129-4F2A-90D7-6C1E893C7A11}" dt="2026-07-30T15:02:01.430" v="24" actId="114"/>
      <pc:docMkLst>
        <pc:docMk/>
      </pc:docMkLst>
      <pc:sldChg chg="modSp modAnim">
        <pc:chgData name="Maitreyee Mahanta" userId="23a04f989b5f9c89" providerId="LiveId" clId="{0AE239F2-B129-4F2A-90D7-6C1E893C7A11}" dt="2026-07-30T15:02:01.430" v="24" actId="114"/>
        <pc:sldMkLst>
          <pc:docMk/>
          <pc:sldMk cId="1860027584" sldId="256"/>
        </pc:sldMkLst>
        <pc:spChg chg="mod">
          <ac:chgData name="Maitreyee Mahanta" userId="23a04f989b5f9c89" providerId="LiveId" clId="{0AE239F2-B129-4F2A-90D7-6C1E893C7A11}" dt="2026-07-30T15:02:01.430" v="24" actId="114"/>
          <ac:spMkLst>
            <pc:docMk/>
            <pc:sldMk cId="1860027584" sldId="256"/>
            <ac:spMk id="3" creationId="{BC592C9B-E53C-A273-1A7D-ED2DC978B6D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BC3CA933409557D/Documents/newton%20p/Astrosage-excel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project.xlsx]d-charts!PivotTable27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Website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2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2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2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'd-charts'!$B$3:$B$4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858-4CCF-8C0E-9EE7F4244FA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858-4CCF-8C0E-9EE7F4244FA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2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858-4CCF-8C0E-9EE7F4244FA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'd-charts'!$A$5:$A$8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'd-charts'!$B$5:$B$8</c:f>
              <c:numCache>
                <c:formatCode>General</c:formatCode>
                <c:ptCount val="3"/>
                <c:pt idx="0">
                  <c:v>7800</c:v>
                </c:pt>
                <c:pt idx="1">
                  <c:v>2</c:v>
                </c:pt>
                <c:pt idx="2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C6-4812-8129-879ADC9A817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project.xlsx]Q-8 I Subjective!PivotTable21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</a:rPr>
              <a:t>Revenue by Channel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</c:pivotFmt>
      <c:pivotFmt>
        <c:idx val="22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</c:pivotFmt>
      <c:pivotFmt>
        <c:idx val="23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</c:pivotFmt>
      <c:pivotFmt>
        <c:idx val="24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</c:pivotFmt>
      <c:pivotFmt>
        <c:idx val="25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noFill/>
          <a:ln w="9525" cap="flat" cmpd="sng" algn="ctr">
            <a:solidFill>
              <a:schemeClr val="accent2"/>
            </a:solidFill>
            <a:miter lim="800000"/>
          </a:ln>
          <a:effectLst>
            <a:glow rad="63500">
              <a:schemeClr val="accent2">
                <a:satMod val="175000"/>
                <a:alpha val="25000"/>
              </a:schemeClr>
            </a:glo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'Q-8 I Subjective'!$B$4:$B$5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C81-4ABC-84BD-9FA4F2B9CFA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81-4ABC-84BD-9FA4F2B9CFA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C81-4ABC-84BD-9FA4F2B9CFA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C81-4ABC-84BD-9FA4F2B9CF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'Q-8 I Subjective'!$A$6:$A$10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'Q-8 I Subjective'!$B$6:$B$10</c:f>
              <c:numCache>
                <c:formatCode>General</c:formatCode>
                <c:ptCount val="4"/>
                <c:pt idx="0">
                  <c:v>168442.03500000015</c:v>
                </c:pt>
                <c:pt idx="1">
                  <c:v>45494.683333333342</c:v>
                </c:pt>
                <c:pt idx="3">
                  <c:v>50.596999999999902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C81-4ABC-84BD-9FA4F2B9CF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222520655"/>
        <c:axId val="1222521135"/>
      </c:barChart>
      <c:catAx>
        <c:axId val="1222520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Candara" panose="020E0502030303020204" pitchFamily="34" charset="0"/>
                <a:ea typeface="+mn-ea"/>
                <a:cs typeface="+mn-cs"/>
              </a:defRPr>
            </a:pPr>
            <a:endParaRPr lang="en-US"/>
          </a:p>
        </c:txPr>
        <c:crossAx val="1222521135"/>
        <c:crosses val="autoZero"/>
        <c:auto val="1"/>
        <c:lblAlgn val="ctr"/>
        <c:lblOffset val="100"/>
        <c:noMultiLvlLbl val="0"/>
      </c:catAx>
      <c:valAx>
        <c:axId val="1222521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Candara" panose="020E0502030303020204" pitchFamily="34" charset="0"/>
                <a:ea typeface="+mn-ea"/>
                <a:cs typeface="+mn-cs"/>
              </a:defRPr>
            </a:pPr>
            <a:endParaRPr lang="en-US"/>
          </a:p>
        </c:txPr>
        <c:crossAx val="1222520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ysClr val="windowText" lastClr="0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>
                <a:solidFill>
                  <a:sysClr val="windowText" lastClr="000000"/>
                </a:solidFill>
              </a:rPr>
              <a:t>Hourly Call Volume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ysClr val="windowText" lastClr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'd-charts'!$N$16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'd-charts'!$M$17:$M$41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'd-charts'!$N$17:$N$41</c:f>
              <c:numCache>
                <c:formatCode>General</c:formatCode>
                <c:ptCount val="24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  <c:pt idx="19">
                  <c:v>223</c:v>
                </c:pt>
                <c:pt idx="20">
                  <c:v>172</c:v>
                </c:pt>
                <c:pt idx="21">
                  <c:v>99</c:v>
                </c:pt>
                <c:pt idx="22">
                  <c:v>73</c:v>
                </c:pt>
                <c:pt idx="2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8-46AC-B4FE-7F7340BAC8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57378736"/>
        <c:axId val="1157378256"/>
      </c:barChart>
      <c:catAx>
        <c:axId val="115737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378256"/>
        <c:crosses val="autoZero"/>
        <c:auto val="1"/>
        <c:lblAlgn val="ctr"/>
        <c:lblOffset val="100"/>
        <c:noMultiLvlLbl val="0"/>
      </c:catAx>
      <c:valAx>
        <c:axId val="1157378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7378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ysClr val="windowText" lastClr="0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Day-by-Day Call Volume Trend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ysClr val="windowText" lastClr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'd-charts'!$B$34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'd-charts'!$A$35:$A$69</c:f>
              <c:strCache>
                <c:ptCount val="34"/>
                <c:pt idx="0">
                  <c:v>01-12-2023</c:v>
                </c:pt>
                <c:pt idx="1">
                  <c:v>02-12-2023</c:v>
                </c:pt>
                <c:pt idx="2">
                  <c:v>03-12-2023</c:v>
                </c:pt>
                <c:pt idx="3">
                  <c:v>04-12-2023</c:v>
                </c:pt>
                <c:pt idx="4">
                  <c:v>05-12-2023</c:v>
                </c:pt>
                <c:pt idx="5">
                  <c:v>06-12-2023</c:v>
                </c:pt>
                <c:pt idx="6">
                  <c:v>07-12-2023</c:v>
                </c:pt>
                <c:pt idx="7">
                  <c:v>08-12-2023</c:v>
                </c:pt>
                <c:pt idx="8">
                  <c:v>09-12-2023</c:v>
                </c:pt>
                <c:pt idx="9">
                  <c:v>10-12-2023</c:v>
                </c:pt>
                <c:pt idx="10">
                  <c:v>11-12-2023</c:v>
                </c:pt>
                <c:pt idx="11">
                  <c:v>12-12-2023</c:v>
                </c:pt>
                <c:pt idx="12">
                  <c:v>13-12-2023</c:v>
                </c:pt>
                <c:pt idx="13">
                  <c:v>14-12-2023</c:v>
                </c:pt>
                <c:pt idx="14">
                  <c:v>15-12-2023</c:v>
                </c:pt>
                <c:pt idx="15">
                  <c:v>16-12-2023</c:v>
                </c:pt>
                <c:pt idx="16">
                  <c:v>17-12-2023</c:v>
                </c:pt>
                <c:pt idx="17">
                  <c:v>18-12-2023</c:v>
                </c:pt>
                <c:pt idx="18">
                  <c:v>19-12-2023</c:v>
                </c:pt>
                <c:pt idx="19">
                  <c:v>20-12-2023</c:v>
                </c:pt>
                <c:pt idx="20">
                  <c:v>21-12-2023</c:v>
                </c:pt>
                <c:pt idx="21">
                  <c:v>22-12-2023</c:v>
                </c:pt>
                <c:pt idx="22">
                  <c:v>23-12-2023</c:v>
                </c:pt>
                <c:pt idx="23">
                  <c:v>24-12-2023</c:v>
                </c:pt>
                <c:pt idx="24">
                  <c:v>25-12-2023</c:v>
                </c:pt>
                <c:pt idx="25">
                  <c:v>26-12-2023</c:v>
                </c:pt>
                <c:pt idx="26">
                  <c:v>27-12-2023</c:v>
                </c:pt>
                <c:pt idx="27">
                  <c:v>28-12-2023</c:v>
                </c:pt>
                <c:pt idx="28">
                  <c:v>29-12-2023</c:v>
                </c:pt>
                <c:pt idx="29">
                  <c:v>30-12-2023</c:v>
                </c:pt>
                <c:pt idx="30">
                  <c:v>31-12-2023</c:v>
                </c:pt>
                <c:pt idx="31">
                  <c:v>01-01-2024</c:v>
                </c:pt>
                <c:pt idx="32">
                  <c:v>02-01-2024</c:v>
                </c:pt>
                <c:pt idx="33">
                  <c:v>03-01-2024</c:v>
                </c:pt>
              </c:strCache>
            </c:strRef>
          </c:cat>
          <c:val>
            <c:numRef>
              <c:f>'d-charts'!$B$35:$B$69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84-48DB-9F10-A6FC945EA7E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331085615"/>
        <c:axId val="1331074095"/>
      </c:lineChart>
      <c:catAx>
        <c:axId val="133108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074095"/>
        <c:crosses val="autoZero"/>
        <c:auto val="1"/>
        <c:lblAlgn val="ctr"/>
        <c:lblOffset val="100"/>
        <c:noMultiLvlLbl val="0"/>
      </c:catAx>
      <c:valAx>
        <c:axId val="1331074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1085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project.xlsx]d-charts!PivotTable28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ysClr val="windowText" lastClr="000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Call and Chat Status (Completed vs Busy)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ysClr val="windowText" lastClr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</c:pivotFmt>
      <c:pivotFmt>
        <c:idx val="5"/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8"/>
        <c:spPr>
          <a:gradFill rotWithShape="1">
            <a:gsLst>
              <a:gs pos="0">
                <a:schemeClr val="accent2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2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1"/>
        <c:spPr>
          <a:gradFill rotWithShape="1">
            <a:gsLst>
              <a:gs pos="0">
                <a:schemeClr val="accent2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tint val="77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tint val="77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tint val="7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  <c:pivotFmt>
        <c:idx val="14"/>
        <c:spPr>
          <a:gradFill rotWithShape="1">
            <a:gsLst>
              <a:gs pos="0">
                <a:schemeClr val="accent2">
                  <a:shade val="76000"/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hade val="76000"/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shade val="76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'd-charts'!$B$18:$B$19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7EC-49C3-900B-E6E6D176695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76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hade val="76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shade val="76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7EC-49C3-900B-E6E6D17669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'd-charts'!$A$20:$A$22</c:f>
              <c:strCache>
                <c:ptCount val="2"/>
                <c:pt idx="0">
                  <c:v>Busy</c:v>
                </c:pt>
                <c:pt idx="1">
                  <c:v>Completed</c:v>
                </c:pt>
              </c:strCache>
            </c:strRef>
          </c:cat>
          <c:val>
            <c:numRef>
              <c:f>'d-charts'!$B$20:$B$22</c:f>
              <c:numCache>
                <c:formatCode>General</c:formatCode>
                <c:ptCount val="2"/>
                <c:pt idx="0">
                  <c:v>1270</c:v>
                </c:pt>
                <c:pt idx="1">
                  <c:v>3450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EC-49C3-900B-E6E6D176695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Rating-Wise User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'd-charts'!$Y$3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'd-charts'!$X$4:$X$13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'd-charts'!$Y$4:$Y$13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8-490D-B201-D39C72E122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292596687"/>
        <c:axId val="1292597167"/>
      </c:barChart>
      <c:catAx>
        <c:axId val="12925966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2597167"/>
        <c:crosses val="autoZero"/>
        <c:auto val="1"/>
        <c:lblAlgn val="ctr"/>
        <c:lblOffset val="100"/>
        <c:noMultiLvlLbl val="0"/>
      </c:catAx>
      <c:valAx>
        <c:axId val="12925971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2596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project.xlsx]d-charts!PivotTable6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Rating-Wise Guru Distribution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'd-charts'!$Y$19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'd-charts'!$X$20:$X$29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'd-charts'!$Y$20:$Y$29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A7-44D4-8E2F-5E3302C797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92363407"/>
        <c:axId val="1292364847"/>
      </c:barChart>
      <c:catAx>
        <c:axId val="129236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2364847"/>
        <c:crosses val="autoZero"/>
        <c:auto val="1"/>
        <c:lblAlgn val="ctr"/>
        <c:lblOffset val="100"/>
        <c:noMultiLvlLbl val="0"/>
      </c:catAx>
      <c:valAx>
        <c:axId val="129236484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236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[Astrosage-excel project.xlsx]d-charts!PivotTable3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10 Gurus by Consultation Volume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 contourW="9525">
            <a:contourClr>
              <a:schemeClr val="accent2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 contourW="9525">
            <a:contourClr>
              <a:schemeClr val="accent2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alpha val="85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round/>
          </a:ln>
          <a:effectLst/>
          <a:sp3d contourW="9525">
            <a:contourClr>
              <a:schemeClr val="accent2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'd-charts'!$AL$3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'd-charts'!$AK$4:$AK$14</c:f>
              <c:strCache>
                <c:ptCount val="10"/>
                <c:pt idx="0">
                  <c:v>Astro  Brejesh</c:v>
                </c:pt>
                <c:pt idx="1">
                  <c:v>Astro  Ruchi</c:v>
                </c:pt>
                <c:pt idx="2">
                  <c:v>Astro  Sakthi</c:v>
                </c:pt>
                <c:pt idx="3">
                  <c:v>Astro  Yogendra</c:v>
                </c:pt>
                <c:pt idx="4">
                  <c:v>Astro Divya</c:v>
                </c:pt>
                <c:pt idx="5">
                  <c:v>Astro Krishaa</c:v>
                </c:pt>
                <c:pt idx="6">
                  <c:v>Astro Shalini</c:v>
                </c:pt>
                <c:pt idx="7">
                  <c:v>Astro Sonam S</c:v>
                </c:pt>
                <c:pt idx="8">
                  <c:v>Tarot  Gurpreet</c:v>
                </c:pt>
                <c:pt idx="9">
                  <c:v>Tarot Bee Riya</c:v>
                </c:pt>
              </c:strCache>
            </c:strRef>
          </c:cat>
          <c:val>
            <c:numRef>
              <c:f>'d-charts'!$AL$4:$AL$14</c:f>
              <c:numCache>
                <c:formatCode>General</c:formatCode>
                <c:ptCount val="10"/>
                <c:pt idx="0">
                  <c:v>1070</c:v>
                </c:pt>
                <c:pt idx="1">
                  <c:v>777</c:v>
                </c:pt>
                <c:pt idx="2">
                  <c:v>1450</c:v>
                </c:pt>
                <c:pt idx="3">
                  <c:v>735</c:v>
                </c:pt>
                <c:pt idx="4">
                  <c:v>1056</c:v>
                </c:pt>
                <c:pt idx="5">
                  <c:v>1580</c:v>
                </c:pt>
                <c:pt idx="6">
                  <c:v>1321</c:v>
                </c:pt>
                <c:pt idx="7">
                  <c:v>752</c:v>
                </c:pt>
                <c:pt idx="8">
                  <c:v>1000</c:v>
                </c:pt>
                <c:pt idx="9">
                  <c:v>743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37-40A0-A0C4-7FC28C2CE9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218986800"/>
        <c:axId val="1218979600"/>
        <c:axId val="0"/>
      </c:bar3DChart>
      <c:catAx>
        <c:axId val="121898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8979600"/>
        <c:crosses val="autoZero"/>
        <c:auto val="1"/>
        <c:lblAlgn val="ctr"/>
        <c:lblOffset val="100"/>
        <c:noMultiLvlLbl val="0"/>
      </c:catAx>
      <c:valAx>
        <c:axId val="121897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8986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7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884D43-39BC-45F2-85F9-245E134170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B5F88E4-FD51-485D-8CF7-E285B6382348}">
      <dgm:prSet/>
      <dgm:spPr/>
      <dgm:t>
        <a:bodyPr/>
        <a:lstStyle/>
        <a:p>
          <a:r>
            <a:rPr lang="en-US" b="1" i="0" baseline="0"/>
            <a:t>Context:</a:t>
          </a:r>
          <a:r>
            <a:rPr lang="en-US" b="0" i="0" baseline="0"/>
            <a:t> AstroSage provides digital spiritual consultation services connecting users with astrological experts (Gurus) via calls and chats.</a:t>
          </a:r>
          <a:endParaRPr lang="en-US"/>
        </a:p>
      </dgm:t>
    </dgm:pt>
    <dgm:pt modelId="{92D8F862-2C3E-4338-8BFE-5E10EDCFF557}" type="parTrans" cxnId="{AF404F6D-9606-4C83-8761-1D6C112EF315}">
      <dgm:prSet/>
      <dgm:spPr/>
      <dgm:t>
        <a:bodyPr/>
        <a:lstStyle/>
        <a:p>
          <a:endParaRPr lang="en-US"/>
        </a:p>
      </dgm:t>
    </dgm:pt>
    <dgm:pt modelId="{6D6E22D9-003C-4C3E-908E-786C3027D359}" type="sibTrans" cxnId="{AF404F6D-9606-4C83-8761-1D6C112EF315}">
      <dgm:prSet/>
      <dgm:spPr/>
      <dgm:t>
        <a:bodyPr/>
        <a:lstStyle/>
        <a:p>
          <a:endParaRPr lang="en-US"/>
        </a:p>
      </dgm:t>
    </dgm:pt>
    <dgm:pt modelId="{910A2B7D-3A71-4C31-A5D4-D81E80517D2C}">
      <dgm:prSet/>
      <dgm:spPr/>
      <dgm:t>
        <a:bodyPr/>
        <a:lstStyle/>
        <a:p>
          <a:r>
            <a:rPr lang="en-US" b="1" i="0" baseline="0"/>
            <a:t>Core Objective:</a:t>
          </a:r>
          <a:r>
            <a:rPr lang="en-US" b="0" i="0" baseline="0"/>
            <a:t> To evaluate operational metrics, consultation channels, traffic distributions, and rating feedback to maximize platform performance.</a:t>
          </a:r>
          <a:endParaRPr lang="en-US"/>
        </a:p>
      </dgm:t>
    </dgm:pt>
    <dgm:pt modelId="{213B0E12-8FE0-4D8F-BD1E-A7892046FF25}" type="parTrans" cxnId="{446B69C1-413A-486E-AF1C-46A0E8EA1D52}">
      <dgm:prSet/>
      <dgm:spPr/>
      <dgm:t>
        <a:bodyPr/>
        <a:lstStyle/>
        <a:p>
          <a:endParaRPr lang="en-US"/>
        </a:p>
      </dgm:t>
    </dgm:pt>
    <dgm:pt modelId="{E6EBF8EA-A942-4095-B580-ADA3B8FA20E5}" type="sibTrans" cxnId="{446B69C1-413A-486E-AF1C-46A0E8EA1D52}">
      <dgm:prSet/>
      <dgm:spPr/>
      <dgm:t>
        <a:bodyPr/>
        <a:lstStyle/>
        <a:p>
          <a:endParaRPr lang="en-US"/>
        </a:p>
      </dgm:t>
    </dgm:pt>
    <dgm:pt modelId="{60F0E5C7-3FCF-4A60-9451-BD1022E3D33A}">
      <dgm:prSet/>
      <dgm:spPr/>
      <dgm:t>
        <a:bodyPr/>
        <a:lstStyle/>
        <a:p>
          <a:r>
            <a:rPr lang="en-US" b="1" i="0" baseline="0"/>
            <a:t>Strategic Goal:</a:t>
          </a:r>
          <a:r>
            <a:rPr lang="en-US" b="0" i="0" baseline="0"/>
            <a:t> Identify service bottlenecks (e.g., missed connections) and top revenue-driving vectors to optimize consultant scheduling and improve user retention.</a:t>
          </a:r>
          <a:endParaRPr lang="en-US"/>
        </a:p>
      </dgm:t>
    </dgm:pt>
    <dgm:pt modelId="{F530FA61-E791-419A-9C96-868A526FAF5F}" type="parTrans" cxnId="{2C0F55D7-8BBC-49DC-8EDB-44BC1AB9EEF7}">
      <dgm:prSet/>
      <dgm:spPr/>
      <dgm:t>
        <a:bodyPr/>
        <a:lstStyle/>
        <a:p>
          <a:endParaRPr lang="en-US"/>
        </a:p>
      </dgm:t>
    </dgm:pt>
    <dgm:pt modelId="{AB0C50FE-F464-4DE0-932C-FD1D5A2D6FE2}" type="sibTrans" cxnId="{2C0F55D7-8BBC-49DC-8EDB-44BC1AB9EEF7}">
      <dgm:prSet/>
      <dgm:spPr/>
      <dgm:t>
        <a:bodyPr/>
        <a:lstStyle/>
        <a:p>
          <a:endParaRPr lang="en-US"/>
        </a:p>
      </dgm:t>
    </dgm:pt>
    <dgm:pt modelId="{D2D5CDFE-1DB4-4477-9C2B-9F960DED5F35}" type="pres">
      <dgm:prSet presAssocID="{45884D43-39BC-45F2-85F9-245E13417071}" presName="linear" presStyleCnt="0">
        <dgm:presLayoutVars>
          <dgm:animLvl val="lvl"/>
          <dgm:resizeHandles val="exact"/>
        </dgm:presLayoutVars>
      </dgm:prSet>
      <dgm:spPr/>
    </dgm:pt>
    <dgm:pt modelId="{486BD943-B62C-478E-B55C-702C0FD6EC76}" type="pres">
      <dgm:prSet presAssocID="{3B5F88E4-FD51-485D-8CF7-E285B63823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430034-ADA9-4AD2-926E-12752E66791A}" type="pres">
      <dgm:prSet presAssocID="{6D6E22D9-003C-4C3E-908E-786C3027D359}" presName="spacer" presStyleCnt="0"/>
      <dgm:spPr/>
    </dgm:pt>
    <dgm:pt modelId="{EBC02A4E-DBD5-4056-9C3B-372046CF5A51}" type="pres">
      <dgm:prSet presAssocID="{910A2B7D-3A71-4C31-A5D4-D81E80517D2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D56CF5-19EE-4C31-863A-8074A82D99EB}" type="pres">
      <dgm:prSet presAssocID="{E6EBF8EA-A942-4095-B580-ADA3B8FA20E5}" presName="spacer" presStyleCnt="0"/>
      <dgm:spPr/>
    </dgm:pt>
    <dgm:pt modelId="{7C77E563-FD9D-4453-9CD7-68E74D11329A}" type="pres">
      <dgm:prSet presAssocID="{60F0E5C7-3FCF-4A60-9451-BD1022E3D3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707207-B3FA-4CB0-AE8D-98A9048CC7A2}" type="presOf" srcId="{910A2B7D-3A71-4C31-A5D4-D81E80517D2C}" destId="{EBC02A4E-DBD5-4056-9C3B-372046CF5A51}" srcOrd="0" destOrd="0" presId="urn:microsoft.com/office/officeart/2005/8/layout/vList2"/>
    <dgm:cxn modelId="{AF404F6D-9606-4C83-8761-1D6C112EF315}" srcId="{45884D43-39BC-45F2-85F9-245E13417071}" destId="{3B5F88E4-FD51-485D-8CF7-E285B6382348}" srcOrd="0" destOrd="0" parTransId="{92D8F862-2C3E-4338-8BFE-5E10EDCFF557}" sibTransId="{6D6E22D9-003C-4C3E-908E-786C3027D359}"/>
    <dgm:cxn modelId="{B28FD675-B069-43D2-AE43-7AC526411BEF}" type="presOf" srcId="{3B5F88E4-FD51-485D-8CF7-E285B6382348}" destId="{486BD943-B62C-478E-B55C-702C0FD6EC76}" srcOrd="0" destOrd="0" presId="urn:microsoft.com/office/officeart/2005/8/layout/vList2"/>
    <dgm:cxn modelId="{CBDBBEB0-24FB-4397-B846-17C25195E624}" type="presOf" srcId="{45884D43-39BC-45F2-85F9-245E13417071}" destId="{D2D5CDFE-1DB4-4477-9C2B-9F960DED5F35}" srcOrd="0" destOrd="0" presId="urn:microsoft.com/office/officeart/2005/8/layout/vList2"/>
    <dgm:cxn modelId="{7EA76CB4-8679-4D55-978E-CF6CC10790D6}" type="presOf" srcId="{60F0E5C7-3FCF-4A60-9451-BD1022E3D33A}" destId="{7C77E563-FD9D-4453-9CD7-68E74D11329A}" srcOrd="0" destOrd="0" presId="urn:microsoft.com/office/officeart/2005/8/layout/vList2"/>
    <dgm:cxn modelId="{446B69C1-413A-486E-AF1C-46A0E8EA1D52}" srcId="{45884D43-39BC-45F2-85F9-245E13417071}" destId="{910A2B7D-3A71-4C31-A5D4-D81E80517D2C}" srcOrd="1" destOrd="0" parTransId="{213B0E12-8FE0-4D8F-BD1E-A7892046FF25}" sibTransId="{E6EBF8EA-A942-4095-B580-ADA3B8FA20E5}"/>
    <dgm:cxn modelId="{2C0F55D7-8BBC-49DC-8EDB-44BC1AB9EEF7}" srcId="{45884D43-39BC-45F2-85F9-245E13417071}" destId="{60F0E5C7-3FCF-4A60-9451-BD1022E3D33A}" srcOrd="2" destOrd="0" parTransId="{F530FA61-E791-419A-9C96-868A526FAF5F}" sibTransId="{AB0C50FE-F464-4DE0-932C-FD1D5A2D6FE2}"/>
    <dgm:cxn modelId="{728F5E13-C59C-422D-B1DF-CB6202EA8E9D}" type="presParOf" srcId="{D2D5CDFE-1DB4-4477-9C2B-9F960DED5F35}" destId="{486BD943-B62C-478E-B55C-702C0FD6EC76}" srcOrd="0" destOrd="0" presId="urn:microsoft.com/office/officeart/2005/8/layout/vList2"/>
    <dgm:cxn modelId="{493D1E55-2355-49BE-BBDF-254CB17A3E4E}" type="presParOf" srcId="{D2D5CDFE-1DB4-4477-9C2B-9F960DED5F35}" destId="{A7430034-ADA9-4AD2-926E-12752E66791A}" srcOrd="1" destOrd="0" presId="urn:microsoft.com/office/officeart/2005/8/layout/vList2"/>
    <dgm:cxn modelId="{53763683-EE6E-440B-96AF-980ED655C16E}" type="presParOf" srcId="{D2D5CDFE-1DB4-4477-9C2B-9F960DED5F35}" destId="{EBC02A4E-DBD5-4056-9C3B-372046CF5A51}" srcOrd="2" destOrd="0" presId="urn:microsoft.com/office/officeart/2005/8/layout/vList2"/>
    <dgm:cxn modelId="{9A099A16-942A-453C-95AB-8F1706CEEDEB}" type="presParOf" srcId="{D2D5CDFE-1DB4-4477-9C2B-9F960DED5F35}" destId="{87D56CF5-19EE-4C31-863A-8074A82D99EB}" srcOrd="3" destOrd="0" presId="urn:microsoft.com/office/officeart/2005/8/layout/vList2"/>
    <dgm:cxn modelId="{915B55EF-ACB3-42E8-BE24-3F6082B9C594}" type="presParOf" srcId="{D2D5CDFE-1DB4-4477-9C2B-9F960DED5F35}" destId="{7C77E563-FD9D-4453-9CD7-68E74D11329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776986-C08C-43A0-A383-EE1366777F7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E1C3FF-A4AE-4DF0-B4C3-0C13368538A3}">
      <dgm:prSet/>
      <dgm:spPr/>
      <dgm:t>
        <a:bodyPr/>
        <a:lstStyle/>
        <a:p>
          <a:r>
            <a:rPr lang="en-US" b="1" i="0" baseline="0"/>
            <a:t>Capacity Bottlenecks:</a:t>
          </a:r>
          <a:r>
            <a:rPr lang="en-US" b="0" i="0" baseline="0"/>
            <a:t> High customer drop-offs and "Busy" statuses during peak hours indicate a supply-demand mismatch in consultant availability.</a:t>
          </a:r>
          <a:endParaRPr lang="en-US"/>
        </a:p>
      </dgm:t>
    </dgm:pt>
    <dgm:pt modelId="{FE3944AE-75F3-4092-B023-21DC85527DEE}" type="parTrans" cxnId="{2C2A0DAB-3672-40A7-A5E0-8EDFF0D4C210}">
      <dgm:prSet/>
      <dgm:spPr/>
      <dgm:t>
        <a:bodyPr/>
        <a:lstStyle/>
        <a:p>
          <a:endParaRPr lang="en-US"/>
        </a:p>
      </dgm:t>
    </dgm:pt>
    <dgm:pt modelId="{835156B6-0DE1-492C-A97B-4AAE481C2368}" type="sibTrans" cxnId="{2C2A0DAB-3672-40A7-A5E0-8EDFF0D4C210}">
      <dgm:prSet/>
      <dgm:spPr/>
      <dgm:t>
        <a:bodyPr/>
        <a:lstStyle/>
        <a:p>
          <a:endParaRPr lang="en-US"/>
        </a:p>
      </dgm:t>
    </dgm:pt>
    <dgm:pt modelId="{7B85395A-F169-4A8C-ACD9-F1F6D0898633}">
      <dgm:prSet/>
      <dgm:spPr/>
      <dgm:t>
        <a:bodyPr/>
        <a:lstStyle/>
        <a:p>
          <a:r>
            <a:rPr lang="en-US" b="1" i="0" baseline="0"/>
            <a:t>Revenue Optimization:</a:t>
          </a:r>
          <a:r>
            <a:rPr lang="en-US" b="0" i="0" baseline="0"/>
            <a:t> Unbalanced monetization across consultation types requires clear data boundaries to isolate underperforming channels.</a:t>
          </a:r>
          <a:endParaRPr lang="en-US"/>
        </a:p>
      </dgm:t>
    </dgm:pt>
    <dgm:pt modelId="{51728E92-C16E-48DD-B73C-50B7CEC82D6A}" type="parTrans" cxnId="{B164E57B-258F-4AAB-9067-494FC16B7EE5}">
      <dgm:prSet/>
      <dgm:spPr/>
      <dgm:t>
        <a:bodyPr/>
        <a:lstStyle/>
        <a:p>
          <a:endParaRPr lang="en-US"/>
        </a:p>
      </dgm:t>
    </dgm:pt>
    <dgm:pt modelId="{6F44986E-8845-4CA4-8640-01607F848399}" type="sibTrans" cxnId="{B164E57B-258F-4AAB-9067-494FC16B7EE5}">
      <dgm:prSet/>
      <dgm:spPr/>
      <dgm:t>
        <a:bodyPr/>
        <a:lstStyle/>
        <a:p>
          <a:endParaRPr lang="en-US"/>
        </a:p>
      </dgm:t>
    </dgm:pt>
    <dgm:pt modelId="{C2B08FAC-7653-497A-8DD3-B37AF1A5F08E}">
      <dgm:prSet/>
      <dgm:spPr/>
      <dgm:t>
        <a:bodyPr/>
        <a:lstStyle/>
        <a:p>
          <a:r>
            <a:rPr lang="en-US" b="1" i="0" baseline="0"/>
            <a:t>Quality Control:</a:t>
          </a:r>
          <a:r>
            <a:rPr lang="en-US" b="0" i="0" baseline="0"/>
            <a:t> A high concentration of unrated or low-rated profiles among both users and consultants poses a risk to consistent platform quality.</a:t>
          </a:r>
          <a:endParaRPr lang="en-US"/>
        </a:p>
      </dgm:t>
    </dgm:pt>
    <dgm:pt modelId="{812BF94D-6EF3-4A24-B738-E74EBC283483}" type="parTrans" cxnId="{5ADE4449-8890-4BC3-B92D-1060C9BFBDD2}">
      <dgm:prSet/>
      <dgm:spPr/>
      <dgm:t>
        <a:bodyPr/>
        <a:lstStyle/>
        <a:p>
          <a:endParaRPr lang="en-US"/>
        </a:p>
      </dgm:t>
    </dgm:pt>
    <dgm:pt modelId="{A4907417-C555-4BF8-9452-4D96256B4B98}" type="sibTrans" cxnId="{5ADE4449-8890-4BC3-B92D-1060C9BFBDD2}">
      <dgm:prSet/>
      <dgm:spPr/>
      <dgm:t>
        <a:bodyPr/>
        <a:lstStyle/>
        <a:p>
          <a:endParaRPr lang="en-US"/>
        </a:p>
      </dgm:t>
    </dgm:pt>
    <dgm:pt modelId="{CAB6CA21-951E-48BA-A820-4B725434A597}" type="pres">
      <dgm:prSet presAssocID="{7C776986-C08C-43A0-A383-EE1366777F76}" presName="linear" presStyleCnt="0">
        <dgm:presLayoutVars>
          <dgm:animLvl val="lvl"/>
          <dgm:resizeHandles val="exact"/>
        </dgm:presLayoutVars>
      </dgm:prSet>
      <dgm:spPr/>
    </dgm:pt>
    <dgm:pt modelId="{FF79F80E-BDA6-4068-9210-CFE912DE7B95}" type="pres">
      <dgm:prSet presAssocID="{F8E1C3FF-A4AE-4DF0-B4C3-0C13368538A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E41E7C4-2AFF-48DC-81E5-7CD59D71D3F7}" type="pres">
      <dgm:prSet presAssocID="{835156B6-0DE1-492C-A97B-4AAE481C2368}" presName="spacer" presStyleCnt="0"/>
      <dgm:spPr/>
    </dgm:pt>
    <dgm:pt modelId="{9407024C-1B76-4FF3-A478-DA24634AA6B1}" type="pres">
      <dgm:prSet presAssocID="{7B85395A-F169-4A8C-ACD9-F1F6D08986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F99C7A-18DE-4073-A5FD-16096080A574}" type="pres">
      <dgm:prSet presAssocID="{6F44986E-8845-4CA4-8640-01607F848399}" presName="spacer" presStyleCnt="0"/>
      <dgm:spPr/>
    </dgm:pt>
    <dgm:pt modelId="{06AFA8B9-3660-46BA-9BB7-436D4D3013DA}" type="pres">
      <dgm:prSet presAssocID="{C2B08FAC-7653-497A-8DD3-B37AF1A5F08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BDF7008-6707-433E-AFD5-AC96993FD9BF}" type="presOf" srcId="{F8E1C3FF-A4AE-4DF0-B4C3-0C13368538A3}" destId="{FF79F80E-BDA6-4068-9210-CFE912DE7B95}" srcOrd="0" destOrd="0" presId="urn:microsoft.com/office/officeart/2005/8/layout/vList2"/>
    <dgm:cxn modelId="{5ADE4449-8890-4BC3-B92D-1060C9BFBDD2}" srcId="{7C776986-C08C-43A0-A383-EE1366777F76}" destId="{C2B08FAC-7653-497A-8DD3-B37AF1A5F08E}" srcOrd="2" destOrd="0" parTransId="{812BF94D-6EF3-4A24-B738-E74EBC283483}" sibTransId="{A4907417-C555-4BF8-9452-4D96256B4B98}"/>
    <dgm:cxn modelId="{F0E95155-6E38-41ED-B1A5-761C5EC96584}" type="presOf" srcId="{7C776986-C08C-43A0-A383-EE1366777F76}" destId="{CAB6CA21-951E-48BA-A820-4B725434A597}" srcOrd="0" destOrd="0" presId="urn:microsoft.com/office/officeart/2005/8/layout/vList2"/>
    <dgm:cxn modelId="{B164E57B-258F-4AAB-9067-494FC16B7EE5}" srcId="{7C776986-C08C-43A0-A383-EE1366777F76}" destId="{7B85395A-F169-4A8C-ACD9-F1F6D0898633}" srcOrd="1" destOrd="0" parTransId="{51728E92-C16E-48DD-B73C-50B7CEC82D6A}" sibTransId="{6F44986E-8845-4CA4-8640-01607F848399}"/>
    <dgm:cxn modelId="{2C2A0DAB-3672-40A7-A5E0-8EDFF0D4C210}" srcId="{7C776986-C08C-43A0-A383-EE1366777F76}" destId="{F8E1C3FF-A4AE-4DF0-B4C3-0C13368538A3}" srcOrd="0" destOrd="0" parTransId="{FE3944AE-75F3-4092-B023-21DC85527DEE}" sibTransId="{835156B6-0DE1-492C-A97B-4AAE481C2368}"/>
    <dgm:cxn modelId="{298F82C7-38FC-4D5D-B5D7-B1EDE9E943ED}" type="presOf" srcId="{7B85395A-F169-4A8C-ACD9-F1F6D0898633}" destId="{9407024C-1B76-4FF3-A478-DA24634AA6B1}" srcOrd="0" destOrd="0" presId="urn:microsoft.com/office/officeart/2005/8/layout/vList2"/>
    <dgm:cxn modelId="{9005EEE7-15AF-4C2D-8C0D-BA6DDE91D4FE}" type="presOf" srcId="{C2B08FAC-7653-497A-8DD3-B37AF1A5F08E}" destId="{06AFA8B9-3660-46BA-9BB7-436D4D3013DA}" srcOrd="0" destOrd="0" presId="urn:microsoft.com/office/officeart/2005/8/layout/vList2"/>
    <dgm:cxn modelId="{7788ABAC-B784-49F9-8F03-76A3FDC33ACF}" type="presParOf" srcId="{CAB6CA21-951E-48BA-A820-4B725434A597}" destId="{FF79F80E-BDA6-4068-9210-CFE912DE7B95}" srcOrd="0" destOrd="0" presId="urn:microsoft.com/office/officeart/2005/8/layout/vList2"/>
    <dgm:cxn modelId="{21289D7B-17E4-4C50-A339-5F827F85565D}" type="presParOf" srcId="{CAB6CA21-951E-48BA-A820-4B725434A597}" destId="{2E41E7C4-2AFF-48DC-81E5-7CD59D71D3F7}" srcOrd="1" destOrd="0" presId="urn:microsoft.com/office/officeart/2005/8/layout/vList2"/>
    <dgm:cxn modelId="{A35A8962-350B-4029-AEF9-4CA0C3591A1A}" type="presParOf" srcId="{CAB6CA21-951E-48BA-A820-4B725434A597}" destId="{9407024C-1B76-4FF3-A478-DA24634AA6B1}" srcOrd="2" destOrd="0" presId="urn:microsoft.com/office/officeart/2005/8/layout/vList2"/>
    <dgm:cxn modelId="{0697B4DF-69D7-461B-9EBB-1060172BF272}" type="presParOf" srcId="{CAB6CA21-951E-48BA-A820-4B725434A597}" destId="{E3F99C7A-18DE-4073-A5FD-16096080A574}" srcOrd="3" destOrd="0" presId="urn:microsoft.com/office/officeart/2005/8/layout/vList2"/>
    <dgm:cxn modelId="{39E02609-E684-476B-83C7-C5158E178D11}" type="presParOf" srcId="{CAB6CA21-951E-48BA-A820-4B725434A597}" destId="{06AFA8B9-3660-46BA-9BB7-436D4D3013D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FDC65E-0B75-46BC-921C-0EE0BC38250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01E55CA-6C30-4BDE-8126-B09CCA96673B}">
      <dgm:prSet/>
      <dgm:spPr/>
      <dgm:t>
        <a:bodyPr/>
        <a:lstStyle/>
        <a:p>
          <a:r>
            <a:rPr lang="en-US" b="1" i="0" baseline="0"/>
            <a:t>Source Material:</a:t>
          </a:r>
          <a:r>
            <a:rPr lang="en-US" b="0" i="0" baseline="0"/>
            <a:t> Structured transactional data extracted from </a:t>
          </a:r>
          <a:r>
            <a:rPr lang="en-US" b="1" i="0" baseline="0"/>
            <a:t>"Astrosage-excel project.xlsx"</a:t>
          </a:r>
          <a:r>
            <a:rPr lang="en-US" b="0" i="0" baseline="0"/>
            <a:t> containing comprehensive user/consultant logs.</a:t>
          </a:r>
          <a:endParaRPr lang="en-US"/>
        </a:p>
      </dgm:t>
    </dgm:pt>
    <dgm:pt modelId="{911F4483-07E4-46C6-B952-FEDD9AC905C2}" type="parTrans" cxnId="{092293A2-8F22-44AB-8A66-F822411EFE89}">
      <dgm:prSet/>
      <dgm:spPr/>
      <dgm:t>
        <a:bodyPr/>
        <a:lstStyle/>
        <a:p>
          <a:endParaRPr lang="en-US"/>
        </a:p>
      </dgm:t>
    </dgm:pt>
    <dgm:pt modelId="{A1F2A153-369D-4F63-B2C3-57516C46DC66}" type="sibTrans" cxnId="{092293A2-8F22-44AB-8A66-F822411EFE8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517C8BE-39AC-4BBF-87AD-8C6716B92DCA}">
      <dgm:prSet/>
      <dgm:spPr/>
      <dgm:t>
        <a:bodyPr/>
        <a:lstStyle/>
        <a:p>
          <a:r>
            <a:rPr lang="en-US" b="1" i="0" baseline="0"/>
            <a:t>Key Dimensions:</a:t>
          </a:r>
          <a:r>
            <a:rPr lang="en-US" b="0" i="0" baseline="0"/>
            <a:t> Analyzed over 45 variables including consultation type, call/chat status, device channels, ratings, financial net amounts, and time metrics.</a:t>
          </a:r>
          <a:endParaRPr lang="en-US"/>
        </a:p>
      </dgm:t>
    </dgm:pt>
    <dgm:pt modelId="{16966C2C-24D0-4F78-980A-1FF2D3F31E54}" type="parTrans" cxnId="{43B29BD1-A9E5-4AB5-AB62-0DC3513224E8}">
      <dgm:prSet/>
      <dgm:spPr/>
      <dgm:t>
        <a:bodyPr/>
        <a:lstStyle/>
        <a:p>
          <a:endParaRPr lang="en-US"/>
        </a:p>
      </dgm:t>
    </dgm:pt>
    <dgm:pt modelId="{35E6FA0E-CD6F-4597-A583-D2FDA5DCB54B}" type="sibTrans" cxnId="{43B29BD1-A9E5-4AB5-AB62-0DC3513224E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019FD152-3018-45A0-88E6-1F2D86EE7C4A}">
      <dgm:prSet/>
      <dgm:spPr/>
      <dgm:t>
        <a:bodyPr/>
        <a:lstStyle/>
        <a:p>
          <a:r>
            <a:rPr lang="en-US" b="1" i="0" baseline="0"/>
            <a:t>Scale of Active Reach:</a:t>
          </a:r>
          <a:r>
            <a:rPr lang="en-US" b="0" i="0" baseline="0"/>
            <a:t> Features a tracked footprint of </a:t>
          </a:r>
          <a:r>
            <a:rPr lang="en-US" b="1" i="0" baseline="0"/>
            <a:t>28,028</a:t>
          </a:r>
          <a:r>
            <a:rPr lang="en-US" b="0" i="0" baseline="0"/>
            <a:t> total active users generating </a:t>
          </a:r>
          <a:r>
            <a:rPr lang="en-US" b="1" i="0" baseline="0"/>
            <a:t>₹2,13,987</a:t>
          </a:r>
          <a:r>
            <a:rPr lang="en-US" b="0" i="0" baseline="0"/>
            <a:t> in gross revenue.</a:t>
          </a:r>
          <a:endParaRPr lang="en-US"/>
        </a:p>
      </dgm:t>
    </dgm:pt>
    <dgm:pt modelId="{0CB3F5EE-F3EB-4CC1-A12D-E7EF638F623E}" type="parTrans" cxnId="{942903A9-B53B-42A5-86FD-CC5CFAEC3DEC}">
      <dgm:prSet/>
      <dgm:spPr/>
      <dgm:t>
        <a:bodyPr/>
        <a:lstStyle/>
        <a:p>
          <a:endParaRPr lang="en-US"/>
        </a:p>
      </dgm:t>
    </dgm:pt>
    <dgm:pt modelId="{8AAE3C48-CA59-4B4E-8FE9-E805C837632D}" type="sibTrans" cxnId="{942903A9-B53B-42A5-86FD-CC5CFAEC3DEC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53298CC-DB32-4BE1-9C72-991B9117959E}" type="pres">
      <dgm:prSet presAssocID="{FAFDC65E-0B75-46BC-921C-0EE0BC382501}" presName="Name0" presStyleCnt="0">
        <dgm:presLayoutVars>
          <dgm:animLvl val="lvl"/>
          <dgm:resizeHandles val="exact"/>
        </dgm:presLayoutVars>
      </dgm:prSet>
      <dgm:spPr/>
    </dgm:pt>
    <dgm:pt modelId="{20A3B526-2CEB-4943-9522-53E7B4C792C9}" type="pres">
      <dgm:prSet presAssocID="{101E55CA-6C30-4BDE-8126-B09CCA96673B}" presName="compositeNode" presStyleCnt="0">
        <dgm:presLayoutVars>
          <dgm:bulletEnabled val="1"/>
        </dgm:presLayoutVars>
      </dgm:prSet>
      <dgm:spPr/>
    </dgm:pt>
    <dgm:pt modelId="{08E4D8E9-DF15-45BC-8D0E-2FF5BB678AD1}" type="pres">
      <dgm:prSet presAssocID="{101E55CA-6C30-4BDE-8126-B09CCA96673B}" presName="bgRect" presStyleLbl="alignNode1" presStyleIdx="0" presStyleCnt="3"/>
      <dgm:spPr/>
    </dgm:pt>
    <dgm:pt modelId="{D37DCA1C-E858-4592-9591-944D46899A9A}" type="pres">
      <dgm:prSet presAssocID="{A1F2A153-369D-4F63-B2C3-57516C46DC66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0CE656D-02D9-41C1-8959-D7A29B43F3B9}" type="pres">
      <dgm:prSet presAssocID="{101E55CA-6C30-4BDE-8126-B09CCA96673B}" presName="nodeRect" presStyleLbl="alignNode1" presStyleIdx="0" presStyleCnt="3">
        <dgm:presLayoutVars>
          <dgm:bulletEnabled val="1"/>
        </dgm:presLayoutVars>
      </dgm:prSet>
      <dgm:spPr/>
    </dgm:pt>
    <dgm:pt modelId="{F2522792-2B94-4900-876F-A171392DD78B}" type="pres">
      <dgm:prSet presAssocID="{A1F2A153-369D-4F63-B2C3-57516C46DC66}" presName="sibTrans" presStyleCnt="0"/>
      <dgm:spPr/>
    </dgm:pt>
    <dgm:pt modelId="{FEACBBB1-F59D-4356-81FE-32F273CEED75}" type="pres">
      <dgm:prSet presAssocID="{6517C8BE-39AC-4BBF-87AD-8C6716B92DCA}" presName="compositeNode" presStyleCnt="0">
        <dgm:presLayoutVars>
          <dgm:bulletEnabled val="1"/>
        </dgm:presLayoutVars>
      </dgm:prSet>
      <dgm:spPr/>
    </dgm:pt>
    <dgm:pt modelId="{A12CCDCF-7D6A-456F-BDAE-B4F0B9417319}" type="pres">
      <dgm:prSet presAssocID="{6517C8BE-39AC-4BBF-87AD-8C6716B92DCA}" presName="bgRect" presStyleLbl="alignNode1" presStyleIdx="1" presStyleCnt="3"/>
      <dgm:spPr/>
    </dgm:pt>
    <dgm:pt modelId="{0A82B39E-AFD4-4E85-9C3C-050841B4D261}" type="pres">
      <dgm:prSet presAssocID="{35E6FA0E-CD6F-4597-A583-D2FDA5DCB54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CF4B490-3E64-4F74-93B6-BB9C70833EBA}" type="pres">
      <dgm:prSet presAssocID="{6517C8BE-39AC-4BBF-87AD-8C6716B92DCA}" presName="nodeRect" presStyleLbl="alignNode1" presStyleIdx="1" presStyleCnt="3">
        <dgm:presLayoutVars>
          <dgm:bulletEnabled val="1"/>
        </dgm:presLayoutVars>
      </dgm:prSet>
      <dgm:spPr/>
    </dgm:pt>
    <dgm:pt modelId="{FD2FA86F-23A5-4FC3-B809-A6FB46F7FABF}" type="pres">
      <dgm:prSet presAssocID="{35E6FA0E-CD6F-4597-A583-D2FDA5DCB54B}" presName="sibTrans" presStyleCnt="0"/>
      <dgm:spPr/>
    </dgm:pt>
    <dgm:pt modelId="{2F00333F-620A-43D7-B278-72A65FB2A3AD}" type="pres">
      <dgm:prSet presAssocID="{019FD152-3018-45A0-88E6-1F2D86EE7C4A}" presName="compositeNode" presStyleCnt="0">
        <dgm:presLayoutVars>
          <dgm:bulletEnabled val="1"/>
        </dgm:presLayoutVars>
      </dgm:prSet>
      <dgm:spPr/>
    </dgm:pt>
    <dgm:pt modelId="{0DDE0D13-73C4-46F2-90C5-AE71E33FA247}" type="pres">
      <dgm:prSet presAssocID="{019FD152-3018-45A0-88E6-1F2D86EE7C4A}" presName="bgRect" presStyleLbl="alignNode1" presStyleIdx="2" presStyleCnt="3"/>
      <dgm:spPr/>
    </dgm:pt>
    <dgm:pt modelId="{7A3935A0-5B9D-4A3C-9B3A-2EB40E056ED5}" type="pres">
      <dgm:prSet presAssocID="{8AAE3C48-CA59-4B4E-8FE9-E805C837632D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B721122-6CF5-47D2-AF2F-23B7EA4D548C}" type="pres">
      <dgm:prSet presAssocID="{019FD152-3018-45A0-88E6-1F2D86EE7C4A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61925504-6179-47CD-8AD8-17E540BC8019}" type="presOf" srcId="{A1F2A153-369D-4F63-B2C3-57516C46DC66}" destId="{D37DCA1C-E858-4592-9591-944D46899A9A}" srcOrd="0" destOrd="0" presId="urn:microsoft.com/office/officeart/2016/7/layout/LinearBlockProcessNumbered"/>
    <dgm:cxn modelId="{F2E24409-C9C5-4E08-B76D-0B52C1E1D5B8}" type="presOf" srcId="{101E55CA-6C30-4BDE-8126-B09CCA96673B}" destId="{40CE656D-02D9-41C1-8959-D7A29B43F3B9}" srcOrd="1" destOrd="0" presId="urn:microsoft.com/office/officeart/2016/7/layout/LinearBlockProcessNumbered"/>
    <dgm:cxn modelId="{A7D1100A-F93F-437D-BE33-A572FE854AE2}" type="presOf" srcId="{019FD152-3018-45A0-88E6-1F2D86EE7C4A}" destId="{CB721122-6CF5-47D2-AF2F-23B7EA4D548C}" srcOrd="1" destOrd="0" presId="urn:microsoft.com/office/officeart/2016/7/layout/LinearBlockProcessNumbered"/>
    <dgm:cxn modelId="{D84B2E3F-888A-42C5-BF83-63340382115B}" type="presOf" srcId="{FAFDC65E-0B75-46BC-921C-0EE0BC382501}" destId="{B53298CC-DB32-4BE1-9C72-991B9117959E}" srcOrd="0" destOrd="0" presId="urn:microsoft.com/office/officeart/2016/7/layout/LinearBlockProcessNumbered"/>
    <dgm:cxn modelId="{99568598-CC83-428A-A842-282055404452}" type="presOf" srcId="{019FD152-3018-45A0-88E6-1F2D86EE7C4A}" destId="{0DDE0D13-73C4-46F2-90C5-AE71E33FA247}" srcOrd="0" destOrd="0" presId="urn:microsoft.com/office/officeart/2016/7/layout/LinearBlockProcessNumbered"/>
    <dgm:cxn modelId="{092293A2-8F22-44AB-8A66-F822411EFE89}" srcId="{FAFDC65E-0B75-46BC-921C-0EE0BC382501}" destId="{101E55CA-6C30-4BDE-8126-B09CCA96673B}" srcOrd="0" destOrd="0" parTransId="{911F4483-07E4-46C6-B952-FEDD9AC905C2}" sibTransId="{A1F2A153-369D-4F63-B2C3-57516C46DC66}"/>
    <dgm:cxn modelId="{942903A9-B53B-42A5-86FD-CC5CFAEC3DEC}" srcId="{FAFDC65E-0B75-46BC-921C-0EE0BC382501}" destId="{019FD152-3018-45A0-88E6-1F2D86EE7C4A}" srcOrd="2" destOrd="0" parTransId="{0CB3F5EE-F3EB-4CC1-A12D-E7EF638F623E}" sibTransId="{8AAE3C48-CA59-4B4E-8FE9-E805C837632D}"/>
    <dgm:cxn modelId="{9DBFC2BD-4A54-477E-91B5-6D5AFB952034}" type="presOf" srcId="{35E6FA0E-CD6F-4597-A583-D2FDA5DCB54B}" destId="{0A82B39E-AFD4-4E85-9C3C-050841B4D261}" srcOrd="0" destOrd="0" presId="urn:microsoft.com/office/officeart/2016/7/layout/LinearBlockProcessNumbered"/>
    <dgm:cxn modelId="{DD4C49C2-AB00-42CA-A108-C5491561ECB0}" type="presOf" srcId="{6517C8BE-39AC-4BBF-87AD-8C6716B92DCA}" destId="{A12CCDCF-7D6A-456F-BDAE-B4F0B9417319}" srcOrd="0" destOrd="0" presId="urn:microsoft.com/office/officeart/2016/7/layout/LinearBlockProcessNumbered"/>
    <dgm:cxn modelId="{43B29BD1-A9E5-4AB5-AB62-0DC3513224E8}" srcId="{FAFDC65E-0B75-46BC-921C-0EE0BC382501}" destId="{6517C8BE-39AC-4BBF-87AD-8C6716B92DCA}" srcOrd="1" destOrd="0" parTransId="{16966C2C-24D0-4F78-980A-1FF2D3F31E54}" sibTransId="{35E6FA0E-CD6F-4597-A583-D2FDA5DCB54B}"/>
    <dgm:cxn modelId="{CE57D0D5-9506-49EE-98C0-72F2D4AB616A}" type="presOf" srcId="{8AAE3C48-CA59-4B4E-8FE9-E805C837632D}" destId="{7A3935A0-5B9D-4A3C-9B3A-2EB40E056ED5}" srcOrd="0" destOrd="0" presId="urn:microsoft.com/office/officeart/2016/7/layout/LinearBlockProcessNumbered"/>
    <dgm:cxn modelId="{DDD100E6-DDAF-4ED9-8CD3-1F406E2C9761}" type="presOf" srcId="{101E55CA-6C30-4BDE-8126-B09CCA96673B}" destId="{08E4D8E9-DF15-45BC-8D0E-2FF5BB678AD1}" srcOrd="0" destOrd="0" presId="urn:microsoft.com/office/officeart/2016/7/layout/LinearBlockProcessNumbered"/>
    <dgm:cxn modelId="{79F4AFEE-6F76-49A6-BDBF-34E073DEB438}" type="presOf" srcId="{6517C8BE-39AC-4BBF-87AD-8C6716B92DCA}" destId="{3CF4B490-3E64-4F74-93B6-BB9C70833EBA}" srcOrd="1" destOrd="0" presId="urn:microsoft.com/office/officeart/2016/7/layout/LinearBlockProcessNumbered"/>
    <dgm:cxn modelId="{8471D3BC-D3AD-4EE3-80F8-3680854570AA}" type="presParOf" srcId="{B53298CC-DB32-4BE1-9C72-991B9117959E}" destId="{20A3B526-2CEB-4943-9522-53E7B4C792C9}" srcOrd="0" destOrd="0" presId="urn:microsoft.com/office/officeart/2016/7/layout/LinearBlockProcessNumbered"/>
    <dgm:cxn modelId="{43C836AE-FDD4-4B99-BF08-FA1E73C86933}" type="presParOf" srcId="{20A3B526-2CEB-4943-9522-53E7B4C792C9}" destId="{08E4D8E9-DF15-45BC-8D0E-2FF5BB678AD1}" srcOrd="0" destOrd="0" presId="urn:microsoft.com/office/officeart/2016/7/layout/LinearBlockProcessNumbered"/>
    <dgm:cxn modelId="{528A717A-0119-4826-ACFF-FAD40E58CD81}" type="presParOf" srcId="{20A3B526-2CEB-4943-9522-53E7B4C792C9}" destId="{D37DCA1C-E858-4592-9591-944D46899A9A}" srcOrd="1" destOrd="0" presId="urn:microsoft.com/office/officeart/2016/7/layout/LinearBlockProcessNumbered"/>
    <dgm:cxn modelId="{A2E139C6-2F34-4EAD-B613-816CE8869A68}" type="presParOf" srcId="{20A3B526-2CEB-4943-9522-53E7B4C792C9}" destId="{40CE656D-02D9-41C1-8959-D7A29B43F3B9}" srcOrd="2" destOrd="0" presId="urn:microsoft.com/office/officeart/2016/7/layout/LinearBlockProcessNumbered"/>
    <dgm:cxn modelId="{9EC0D014-7C9F-4BA1-ABE1-848F7B59D5D6}" type="presParOf" srcId="{B53298CC-DB32-4BE1-9C72-991B9117959E}" destId="{F2522792-2B94-4900-876F-A171392DD78B}" srcOrd="1" destOrd="0" presId="urn:microsoft.com/office/officeart/2016/7/layout/LinearBlockProcessNumbered"/>
    <dgm:cxn modelId="{F77B2A45-16C1-466B-85BE-1C2A8552295C}" type="presParOf" srcId="{B53298CC-DB32-4BE1-9C72-991B9117959E}" destId="{FEACBBB1-F59D-4356-81FE-32F273CEED75}" srcOrd="2" destOrd="0" presId="urn:microsoft.com/office/officeart/2016/7/layout/LinearBlockProcessNumbered"/>
    <dgm:cxn modelId="{C8D9342F-6B4B-458F-BD0C-E8BB41991796}" type="presParOf" srcId="{FEACBBB1-F59D-4356-81FE-32F273CEED75}" destId="{A12CCDCF-7D6A-456F-BDAE-B4F0B9417319}" srcOrd="0" destOrd="0" presId="urn:microsoft.com/office/officeart/2016/7/layout/LinearBlockProcessNumbered"/>
    <dgm:cxn modelId="{FD17747C-A8CD-45B6-83FE-0C2E1FB92AA8}" type="presParOf" srcId="{FEACBBB1-F59D-4356-81FE-32F273CEED75}" destId="{0A82B39E-AFD4-4E85-9C3C-050841B4D261}" srcOrd="1" destOrd="0" presId="urn:microsoft.com/office/officeart/2016/7/layout/LinearBlockProcessNumbered"/>
    <dgm:cxn modelId="{4991AC5D-F529-426B-957A-CD8B2F629D4A}" type="presParOf" srcId="{FEACBBB1-F59D-4356-81FE-32F273CEED75}" destId="{3CF4B490-3E64-4F74-93B6-BB9C70833EBA}" srcOrd="2" destOrd="0" presId="urn:microsoft.com/office/officeart/2016/7/layout/LinearBlockProcessNumbered"/>
    <dgm:cxn modelId="{A7EB2D2D-6BFC-4E5B-A67B-FC8538B7236F}" type="presParOf" srcId="{B53298CC-DB32-4BE1-9C72-991B9117959E}" destId="{FD2FA86F-23A5-4FC3-B809-A6FB46F7FABF}" srcOrd="3" destOrd="0" presId="urn:microsoft.com/office/officeart/2016/7/layout/LinearBlockProcessNumbered"/>
    <dgm:cxn modelId="{669B22BA-174A-4FC4-89A1-A85DDC416A1E}" type="presParOf" srcId="{B53298CC-DB32-4BE1-9C72-991B9117959E}" destId="{2F00333F-620A-43D7-B278-72A65FB2A3AD}" srcOrd="4" destOrd="0" presId="urn:microsoft.com/office/officeart/2016/7/layout/LinearBlockProcessNumbered"/>
    <dgm:cxn modelId="{B5872DE9-8F85-4A8D-8A4E-0EB47F1BBE21}" type="presParOf" srcId="{2F00333F-620A-43D7-B278-72A65FB2A3AD}" destId="{0DDE0D13-73C4-46F2-90C5-AE71E33FA247}" srcOrd="0" destOrd="0" presId="urn:microsoft.com/office/officeart/2016/7/layout/LinearBlockProcessNumbered"/>
    <dgm:cxn modelId="{B9AE6C13-E034-4DD1-8379-4F00CAA09800}" type="presParOf" srcId="{2F00333F-620A-43D7-B278-72A65FB2A3AD}" destId="{7A3935A0-5B9D-4A3C-9B3A-2EB40E056ED5}" srcOrd="1" destOrd="0" presId="urn:microsoft.com/office/officeart/2016/7/layout/LinearBlockProcessNumbered"/>
    <dgm:cxn modelId="{413FFFEE-0E54-4FA1-B4CB-70DA38477781}" type="presParOf" srcId="{2F00333F-620A-43D7-B278-72A65FB2A3AD}" destId="{CB721122-6CF5-47D2-AF2F-23B7EA4D548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0C9CFE-8DC9-4882-BF07-160D1EC359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ABBF3A-F029-4760-8226-737C0647282C}">
      <dgm:prSet/>
      <dgm:spPr/>
      <dgm:t>
        <a:bodyPr/>
        <a:lstStyle/>
        <a:p>
          <a:r>
            <a:rPr lang="en-US" b="1" i="0" baseline="0"/>
            <a:t>Data Extraction &amp; Cleaning:</a:t>
          </a:r>
          <a:r>
            <a:rPr lang="en-US" b="0" i="0" baseline="0"/>
            <a:t> Handled missing data points, isolated system anomalies, and verified chronological timestamps within the spreadsheet.</a:t>
          </a:r>
          <a:endParaRPr lang="en-US"/>
        </a:p>
      </dgm:t>
    </dgm:pt>
    <dgm:pt modelId="{63A38DF4-AE37-4160-9D7E-4D9FF93C07E3}" type="parTrans" cxnId="{B8A95D57-776E-473C-BA96-EFD8513EBAC0}">
      <dgm:prSet/>
      <dgm:spPr/>
      <dgm:t>
        <a:bodyPr/>
        <a:lstStyle/>
        <a:p>
          <a:endParaRPr lang="en-US"/>
        </a:p>
      </dgm:t>
    </dgm:pt>
    <dgm:pt modelId="{24903ED3-3089-4B4A-8E45-90B05B70D503}" type="sibTrans" cxnId="{B8A95D57-776E-473C-BA96-EFD8513EBAC0}">
      <dgm:prSet/>
      <dgm:spPr/>
      <dgm:t>
        <a:bodyPr/>
        <a:lstStyle/>
        <a:p>
          <a:endParaRPr lang="en-US"/>
        </a:p>
      </dgm:t>
    </dgm:pt>
    <dgm:pt modelId="{4A0812E8-4272-4021-AEE2-5409311E4B4D}">
      <dgm:prSet/>
      <dgm:spPr/>
      <dgm:t>
        <a:bodyPr/>
        <a:lstStyle/>
        <a:p>
          <a:r>
            <a:rPr lang="en-US" b="1" i="0" baseline="0"/>
            <a:t>Aggregation &amp; Logic:</a:t>
          </a:r>
          <a:r>
            <a:rPr lang="en-US" b="0" i="0" baseline="0"/>
            <a:t> Implemented logical groupings to separate interactions by hour, day, consultation category, and specific consultant IDs.</a:t>
          </a:r>
          <a:endParaRPr lang="en-US"/>
        </a:p>
      </dgm:t>
    </dgm:pt>
    <dgm:pt modelId="{023FA447-727B-4453-85AA-7FE215687AE3}" type="parTrans" cxnId="{779E3649-66C6-4625-AB96-3A09F4163A80}">
      <dgm:prSet/>
      <dgm:spPr/>
      <dgm:t>
        <a:bodyPr/>
        <a:lstStyle/>
        <a:p>
          <a:endParaRPr lang="en-US"/>
        </a:p>
      </dgm:t>
    </dgm:pt>
    <dgm:pt modelId="{6FC19E4F-C7FA-4E7C-BBC4-0F5F657BEF8A}" type="sibTrans" cxnId="{779E3649-66C6-4625-AB96-3A09F4163A80}">
      <dgm:prSet/>
      <dgm:spPr/>
      <dgm:t>
        <a:bodyPr/>
        <a:lstStyle/>
        <a:p>
          <a:endParaRPr lang="en-US"/>
        </a:p>
      </dgm:t>
    </dgm:pt>
    <dgm:pt modelId="{C5D9A8B5-8380-423F-A9AA-466063EB887A}">
      <dgm:prSet/>
      <dgm:spPr/>
      <dgm:t>
        <a:bodyPr/>
        <a:lstStyle/>
        <a:p>
          <a:r>
            <a:rPr lang="en-US" b="1" i="0" baseline="0"/>
            <a:t>Visualization Architecture:</a:t>
          </a:r>
          <a:r>
            <a:rPr lang="en-US" b="0" i="0" baseline="0"/>
            <a:t> Synthesized raw data arrays into a dynamic, filterable executive view using uniform charts to support strategic business decisions.</a:t>
          </a:r>
          <a:endParaRPr lang="en-US"/>
        </a:p>
      </dgm:t>
    </dgm:pt>
    <dgm:pt modelId="{75FF9002-796C-4DF3-951F-AAB8315AF614}" type="parTrans" cxnId="{E5F4A4B1-2F06-4B91-8684-6BCC9C84A47F}">
      <dgm:prSet/>
      <dgm:spPr/>
      <dgm:t>
        <a:bodyPr/>
        <a:lstStyle/>
        <a:p>
          <a:endParaRPr lang="en-US"/>
        </a:p>
      </dgm:t>
    </dgm:pt>
    <dgm:pt modelId="{16F802D3-4CB8-401C-BD85-3AEDA3D4D80F}" type="sibTrans" cxnId="{E5F4A4B1-2F06-4B91-8684-6BCC9C84A47F}">
      <dgm:prSet/>
      <dgm:spPr/>
      <dgm:t>
        <a:bodyPr/>
        <a:lstStyle/>
        <a:p>
          <a:endParaRPr lang="en-US"/>
        </a:p>
      </dgm:t>
    </dgm:pt>
    <dgm:pt modelId="{712F6A74-ADBA-4D9B-914B-925ACB5F765A}" type="pres">
      <dgm:prSet presAssocID="{E60C9CFE-8DC9-4882-BF07-160D1EC3590E}" presName="root" presStyleCnt="0">
        <dgm:presLayoutVars>
          <dgm:dir/>
          <dgm:resizeHandles val="exact"/>
        </dgm:presLayoutVars>
      </dgm:prSet>
      <dgm:spPr/>
    </dgm:pt>
    <dgm:pt modelId="{13D9DDD2-2C84-4B90-9A37-EFE387AC752F}" type="pres">
      <dgm:prSet presAssocID="{BBABBF3A-F029-4760-8226-737C0647282C}" presName="compNode" presStyleCnt="0"/>
      <dgm:spPr/>
    </dgm:pt>
    <dgm:pt modelId="{CF62EBEE-D4B7-416A-BC9D-23F749014146}" type="pres">
      <dgm:prSet presAssocID="{BBABBF3A-F029-4760-8226-737C0647282C}" presName="bgRect" presStyleLbl="bgShp" presStyleIdx="0" presStyleCnt="3"/>
      <dgm:spPr/>
    </dgm:pt>
    <dgm:pt modelId="{F9DF4356-DEB0-4FDD-ABD2-A411B216C759}" type="pres">
      <dgm:prSet presAssocID="{BBABBF3A-F029-4760-8226-737C0647282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EB8EBA2-927B-4375-9AD4-5C42152760D4}" type="pres">
      <dgm:prSet presAssocID="{BBABBF3A-F029-4760-8226-737C0647282C}" presName="spaceRect" presStyleCnt="0"/>
      <dgm:spPr/>
    </dgm:pt>
    <dgm:pt modelId="{BE347791-AA98-4CF5-BBE3-CA715B9D9113}" type="pres">
      <dgm:prSet presAssocID="{BBABBF3A-F029-4760-8226-737C0647282C}" presName="parTx" presStyleLbl="revTx" presStyleIdx="0" presStyleCnt="3">
        <dgm:presLayoutVars>
          <dgm:chMax val="0"/>
          <dgm:chPref val="0"/>
        </dgm:presLayoutVars>
      </dgm:prSet>
      <dgm:spPr/>
    </dgm:pt>
    <dgm:pt modelId="{F6CACBEB-C18A-4F7C-8F7C-E83E95C975E6}" type="pres">
      <dgm:prSet presAssocID="{24903ED3-3089-4B4A-8E45-90B05B70D503}" presName="sibTrans" presStyleCnt="0"/>
      <dgm:spPr/>
    </dgm:pt>
    <dgm:pt modelId="{631D7153-C0B5-41D7-B3A3-3C1E29A90EAC}" type="pres">
      <dgm:prSet presAssocID="{4A0812E8-4272-4021-AEE2-5409311E4B4D}" presName="compNode" presStyleCnt="0"/>
      <dgm:spPr/>
    </dgm:pt>
    <dgm:pt modelId="{B42A3CD7-6AB3-4E5D-8F3F-301BCF6ADE45}" type="pres">
      <dgm:prSet presAssocID="{4A0812E8-4272-4021-AEE2-5409311E4B4D}" presName="bgRect" presStyleLbl="bgShp" presStyleIdx="1" presStyleCnt="3"/>
      <dgm:spPr/>
    </dgm:pt>
    <dgm:pt modelId="{9775C3D8-E6F4-47C7-B88F-FD5139BDEF90}" type="pres">
      <dgm:prSet presAssocID="{4A0812E8-4272-4021-AEE2-5409311E4B4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341AA9D-CDEA-415D-B9D6-1828ED546BFB}" type="pres">
      <dgm:prSet presAssocID="{4A0812E8-4272-4021-AEE2-5409311E4B4D}" presName="spaceRect" presStyleCnt="0"/>
      <dgm:spPr/>
    </dgm:pt>
    <dgm:pt modelId="{EAFBC282-A313-491C-9DFC-33D4B80A82A8}" type="pres">
      <dgm:prSet presAssocID="{4A0812E8-4272-4021-AEE2-5409311E4B4D}" presName="parTx" presStyleLbl="revTx" presStyleIdx="1" presStyleCnt="3">
        <dgm:presLayoutVars>
          <dgm:chMax val="0"/>
          <dgm:chPref val="0"/>
        </dgm:presLayoutVars>
      </dgm:prSet>
      <dgm:spPr/>
    </dgm:pt>
    <dgm:pt modelId="{B0CABFD6-E07B-477C-8D7C-4BDD6D015B80}" type="pres">
      <dgm:prSet presAssocID="{6FC19E4F-C7FA-4E7C-BBC4-0F5F657BEF8A}" presName="sibTrans" presStyleCnt="0"/>
      <dgm:spPr/>
    </dgm:pt>
    <dgm:pt modelId="{CA9B377C-C5AE-4E8A-8840-58DEEB9F9B26}" type="pres">
      <dgm:prSet presAssocID="{C5D9A8B5-8380-423F-A9AA-466063EB887A}" presName="compNode" presStyleCnt="0"/>
      <dgm:spPr/>
    </dgm:pt>
    <dgm:pt modelId="{302ADA3A-712E-4AF2-9D64-6063E5C934AB}" type="pres">
      <dgm:prSet presAssocID="{C5D9A8B5-8380-423F-A9AA-466063EB887A}" presName="bgRect" presStyleLbl="bgShp" presStyleIdx="2" presStyleCnt="3"/>
      <dgm:spPr/>
    </dgm:pt>
    <dgm:pt modelId="{EFFFEC2B-5CCF-47D8-9876-BBD2D507C29E}" type="pres">
      <dgm:prSet presAssocID="{C5D9A8B5-8380-423F-A9AA-466063EB887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0655FDD-AF76-40BE-A967-2A5BED49E196}" type="pres">
      <dgm:prSet presAssocID="{C5D9A8B5-8380-423F-A9AA-466063EB887A}" presName="spaceRect" presStyleCnt="0"/>
      <dgm:spPr/>
    </dgm:pt>
    <dgm:pt modelId="{14451C6E-4275-4C22-8415-C97155CE2922}" type="pres">
      <dgm:prSet presAssocID="{C5D9A8B5-8380-423F-A9AA-466063EB887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5AD1C1B-2A7B-4EB9-BF00-32C99683285E}" type="presOf" srcId="{BBABBF3A-F029-4760-8226-737C0647282C}" destId="{BE347791-AA98-4CF5-BBE3-CA715B9D9113}" srcOrd="0" destOrd="0" presId="urn:microsoft.com/office/officeart/2018/2/layout/IconVerticalSolidList"/>
    <dgm:cxn modelId="{779E3649-66C6-4625-AB96-3A09F4163A80}" srcId="{E60C9CFE-8DC9-4882-BF07-160D1EC3590E}" destId="{4A0812E8-4272-4021-AEE2-5409311E4B4D}" srcOrd="1" destOrd="0" parTransId="{023FA447-727B-4453-85AA-7FE215687AE3}" sibTransId="{6FC19E4F-C7FA-4E7C-BBC4-0F5F657BEF8A}"/>
    <dgm:cxn modelId="{B8A95D57-776E-473C-BA96-EFD8513EBAC0}" srcId="{E60C9CFE-8DC9-4882-BF07-160D1EC3590E}" destId="{BBABBF3A-F029-4760-8226-737C0647282C}" srcOrd="0" destOrd="0" parTransId="{63A38DF4-AE37-4160-9D7E-4D9FF93C07E3}" sibTransId="{24903ED3-3089-4B4A-8E45-90B05B70D503}"/>
    <dgm:cxn modelId="{135B577C-98CF-4D23-98E9-0F4126CE5572}" type="presOf" srcId="{E60C9CFE-8DC9-4882-BF07-160D1EC3590E}" destId="{712F6A74-ADBA-4D9B-914B-925ACB5F765A}" srcOrd="0" destOrd="0" presId="urn:microsoft.com/office/officeart/2018/2/layout/IconVerticalSolidList"/>
    <dgm:cxn modelId="{E5F4A4B1-2F06-4B91-8684-6BCC9C84A47F}" srcId="{E60C9CFE-8DC9-4882-BF07-160D1EC3590E}" destId="{C5D9A8B5-8380-423F-A9AA-466063EB887A}" srcOrd="2" destOrd="0" parTransId="{75FF9002-796C-4DF3-951F-AAB8315AF614}" sibTransId="{16F802D3-4CB8-401C-BD85-3AEDA3D4D80F}"/>
    <dgm:cxn modelId="{5D934EBC-9068-4FA9-96CF-A637C4284C85}" type="presOf" srcId="{4A0812E8-4272-4021-AEE2-5409311E4B4D}" destId="{EAFBC282-A313-491C-9DFC-33D4B80A82A8}" srcOrd="0" destOrd="0" presId="urn:microsoft.com/office/officeart/2018/2/layout/IconVerticalSolidList"/>
    <dgm:cxn modelId="{AB339BD4-9872-46A6-9C57-6E9DEFA96389}" type="presOf" srcId="{C5D9A8B5-8380-423F-A9AA-466063EB887A}" destId="{14451C6E-4275-4C22-8415-C97155CE2922}" srcOrd="0" destOrd="0" presId="urn:microsoft.com/office/officeart/2018/2/layout/IconVerticalSolidList"/>
    <dgm:cxn modelId="{FC790680-A3E1-49A7-B0EA-05873866855C}" type="presParOf" srcId="{712F6A74-ADBA-4D9B-914B-925ACB5F765A}" destId="{13D9DDD2-2C84-4B90-9A37-EFE387AC752F}" srcOrd="0" destOrd="0" presId="urn:microsoft.com/office/officeart/2018/2/layout/IconVerticalSolidList"/>
    <dgm:cxn modelId="{483B32E1-8BC1-41BF-A50D-4FA53FCFF029}" type="presParOf" srcId="{13D9DDD2-2C84-4B90-9A37-EFE387AC752F}" destId="{CF62EBEE-D4B7-416A-BC9D-23F749014146}" srcOrd="0" destOrd="0" presId="urn:microsoft.com/office/officeart/2018/2/layout/IconVerticalSolidList"/>
    <dgm:cxn modelId="{06DDEE89-61E2-4DF9-A35C-221AF7AF11AC}" type="presParOf" srcId="{13D9DDD2-2C84-4B90-9A37-EFE387AC752F}" destId="{F9DF4356-DEB0-4FDD-ABD2-A411B216C759}" srcOrd="1" destOrd="0" presId="urn:microsoft.com/office/officeart/2018/2/layout/IconVerticalSolidList"/>
    <dgm:cxn modelId="{05FD3D76-0A17-403D-999A-B2F3659DF05D}" type="presParOf" srcId="{13D9DDD2-2C84-4B90-9A37-EFE387AC752F}" destId="{3EB8EBA2-927B-4375-9AD4-5C42152760D4}" srcOrd="2" destOrd="0" presId="urn:microsoft.com/office/officeart/2018/2/layout/IconVerticalSolidList"/>
    <dgm:cxn modelId="{9218D52D-A4E7-4591-864D-906E5AFAF13F}" type="presParOf" srcId="{13D9DDD2-2C84-4B90-9A37-EFE387AC752F}" destId="{BE347791-AA98-4CF5-BBE3-CA715B9D9113}" srcOrd="3" destOrd="0" presId="urn:microsoft.com/office/officeart/2018/2/layout/IconVerticalSolidList"/>
    <dgm:cxn modelId="{0C4B9D67-E2CC-4BE3-9AE5-C74CD5C2062D}" type="presParOf" srcId="{712F6A74-ADBA-4D9B-914B-925ACB5F765A}" destId="{F6CACBEB-C18A-4F7C-8F7C-E83E95C975E6}" srcOrd="1" destOrd="0" presId="urn:microsoft.com/office/officeart/2018/2/layout/IconVerticalSolidList"/>
    <dgm:cxn modelId="{870F576E-F40E-48B4-903F-4B15D846D562}" type="presParOf" srcId="{712F6A74-ADBA-4D9B-914B-925ACB5F765A}" destId="{631D7153-C0B5-41D7-B3A3-3C1E29A90EAC}" srcOrd="2" destOrd="0" presId="urn:microsoft.com/office/officeart/2018/2/layout/IconVerticalSolidList"/>
    <dgm:cxn modelId="{3912E5E4-4C83-4A0C-A4C0-AE8AFADBD112}" type="presParOf" srcId="{631D7153-C0B5-41D7-B3A3-3C1E29A90EAC}" destId="{B42A3CD7-6AB3-4E5D-8F3F-301BCF6ADE45}" srcOrd="0" destOrd="0" presId="urn:microsoft.com/office/officeart/2018/2/layout/IconVerticalSolidList"/>
    <dgm:cxn modelId="{68313BDD-0F75-4BA9-8B4E-99E3223327C0}" type="presParOf" srcId="{631D7153-C0B5-41D7-B3A3-3C1E29A90EAC}" destId="{9775C3D8-E6F4-47C7-B88F-FD5139BDEF90}" srcOrd="1" destOrd="0" presId="urn:microsoft.com/office/officeart/2018/2/layout/IconVerticalSolidList"/>
    <dgm:cxn modelId="{44B80AB6-7C0D-4CDD-BBC2-243140812EF6}" type="presParOf" srcId="{631D7153-C0B5-41D7-B3A3-3C1E29A90EAC}" destId="{2341AA9D-CDEA-415D-B9D6-1828ED546BFB}" srcOrd="2" destOrd="0" presId="urn:microsoft.com/office/officeart/2018/2/layout/IconVerticalSolidList"/>
    <dgm:cxn modelId="{159E4C32-9554-44BF-B7E0-0AEB5DFFFA69}" type="presParOf" srcId="{631D7153-C0B5-41D7-B3A3-3C1E29A90EAC}" destId="{EAFBC282-A313-491C-9DFC-33D4B80A82A8}" srcOrd="3" destOrd="0" presId="urn:microsoft.com/office/officeart/2018/2/layout/IconVerticalSolidList"/>
    <dgm:cxn modelId="{1883A532-49AB-40A0-9BAD-8B07313AA6ED}" type="presParOf" srcId="{712F6A74-ADBA-4D9B-914B-925ACB5F765A}" destId="{B0CABFD6-E07B-477C-8D7C-4BDD6D015B80}" srcOrd="3" destOrd="0" presId="urn:microsoft.com/office/officeart/2018/2/layout/IconVerticalSolidList"/>
    <dgm:cxn modelId="{3836C055-11C5-47B7-8ED2-E7D34D59D032}" type="presParOf" srcId="{712F6A74-ADBA-4D9B-914B-925ACB5F765A}" destId="{CA9B377C-C5AE-4E8A-8840-58DEEB9F9B26}" srcOrd="4" destOrd="0" presId="urn:microsoft.com/office/officeart/2018/2/layout/IconVerticalSolidList"/>
    <dgm:cxn modelId="{9BFEB08B-96EA-48B3-BDB6-C8727D459E60}" type="presParOf" srcId="{CA9B377C-C5AE-4E8A-8840-58DEEB9F9B26}" destId="{302ADA3A-712E-4AF2-9D64-6063E5C934AB}" srcOrd="0" destOrd="0" presId="urn:microsoft.com/office/officeart/2018/2/layout/IconVerticalSolidList"/>
    <dgm:cxn modelId="{5616542F-F127-418A-A467-54DF571EA662}" type="presParOf" srcId="{CA9B377C-C5AE-4E8A-8840-58DEEB9F9B26}" destId="{EFFFEC2B-5CCF-47D8-9876-BBD2D507C29E}" srcOrd="1" destOrd="0" presId="urn:microsoft.com/office/officeart/2018/2/layout/IconVerticalSolidList"/>
    <dgm:cxn modelId="{F96D497D-68F2-47CA-B3F2-5484D178E664}" type="presParOf" srcId="{CA9B377C-C5AE-4E8A-8840-58DEEB9F9B26}" destId="{C0655FDD-AF76-40BE-A967-2A5BED49E196}" srcOrd="2" destOrd="0" presId="urn:microsoft.com/office/officeart/2018/2/layout/IconVerticalSolidList"/>
    <dgm:cxn modelId="{5385D4B3-57A3-4EB0-88C1-4403FFBC5239}" type="presParOf" srcId="{CA9B377C-C5AE-4E8A-8840-58DEEB9F9B26}" destId="{14451C6E-4275-4C22-8415-C97155CE29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B06E9B-C965-4F99-8CD7-EAED0196ED8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87BFDF-417B-4029-8BD4-2997B25CDCD8}">
      <dgm:prSet/>
      <dgm:spPr/>
      <dgm:t>
        <a:bodyPr/>
        <a:lstStyle/>
        <a:p>
          <a:r>
            <a:rPr lang="en-US" b="1" i="0" baseline="0"/>
            <a:t>Financial Health:</a:t>
          </a:r>
          <a:r>
            <a:rPr lang="en-US" b="0" i="0" baseline="0"/>
            <a:t> Generated a Total Revenue of </a:t>
          </a:r>
          <a:r>
            <a:rPr lang="en-US" b="1" i="0" baseline="0"/>
            <a:t>₹2,13,987</a:t>
          </a:r>
          <a:r>
            <a:rPr lang="en-US" b="0" i="0" baseline="0"/>
            <a:t> with a robust Net Profit of </a:t>
          </a:r>
          <a:r>
            <a:rPr lang="en-US" b="1" i="0" baseline="0"/>
            <a:t>₹1,14,841</a:t>
          </a:r>
          <a:r>
            <a:rPr lang="en-US" b="0" i="0" baseline="0"/>
            <a:t>.</a:t>
          </a:r>
          <a:endParaRPr lang="en-US"/>
        </a:p>
      </dgm:t>
    </dgm:pt>
    <dgm:pt modelId="{111D52A9-20AA-4814-9310-1EB1310FAEB5}" type="parTrans" cxnId="{323D5691-2B19-401E-A95C-1B16290AA154}">
      <dgm:prSet/>
      <dgm:spPr/>
      <dgm:t>
        <a:bodyPr/>
        <a:lstStyle/>
        <a:p>
          <a:endParaRPr lang="en-US"/>
        </a:p>
      </dgm:t>
    </dgm:pt>
    <dgm:pt modelId="{F872FFEC-F77F-4BA6-BECC-32B1183C75A7}" type="sibTrans" cxnId="{323D5691-2B19-401E-A95C-1B16290AA154}">
      <dgm:prSet/>
      <dgm:spPr/>
      <dgm:t>
        <a:bodyPr/>
        <a:lstStyle/>
        <a:p>
          <a:endParaRPr lang="en-US"/>
        </a:p>
      </dgm:t>
    </dgm:pt>
    <dgm:pt modelId="{00FC8208-FE99-411C-821E-ECFF73A56754}">
      <dgm:prSet/>
      <dgm:spPr/>
      <dgm:t>
        <a:bodyPr/>
        <a:lstStyle/>
        <a:p>
          <a:r>
            <a:rPr lang="en-US" b="1" i="0" baseline="0"/>
            <a:t>User Base:</a:t>
          </a:r>
          <a:r>
            <a:rPr lang="en-US" b="0" i="0" baseline="0"/>
            <a:t> Active engagement sustained across a user ecosystem of </a:t>
          </a:r>
          <a:r>
            <a:rPr lang="en-US" b="1" i="0" baseline="0"/>
            <a:t>28,028</a:t>
          </a:r>
          <a:r>
            <a:rPr lang="en-US" b="0" i="0" baseline="0"/>
            <a:t> total active users.</a:t>
          </a:r>
          <a:endParaRPr lang="en-US"/>
        </a:p>
      </dgm:t>
    </dgm:pt>
    <dgm:pt modelId="{86696155-4C1C-4531-AB11-0E46A6570C4E}" type="parTrans" cxnId="{FAE758E6-D28F-4346-8196-A336147C4536}">
      <dgm:prSet/>
      <dgm:spPr/>
      <dgm:t>
        <a:bodyPr/>
        <a:lstStyle/>
        <a:p>
          <a:endParaRPr lang="en-US"/>
        </a:p>
      </dgm:t>
    </dgm:pt>
    <dgm:pt modelId="{D025A489-AD20-42DA-B791-BEC16F9F225D}" type="sibTrans" cxnId="{FAE758E6-D28F-4346-8196-A336147C4536}">
      <dgm:prSet/>
      <dgm:spPr/>
      <dgm:t>
        <a:bodyPr/>
        <a:lstStyle/>
        <a:p>
          <a:endParaRPr lang="en-US"/>
        </a:p>
      </dgm:t>
    </dgm:pt>
    <dgm:pt modelId="{89181889-1C71-48B5-A6A2-4EEB520FC503}">
      <dgm:prSet/>
      <dgm:spPr/>
      <dgm:t>
        <a:bodyPr/>
        <a:lstStyle/>
        <a:p>
          <a:r>
            <a:rPr lang="en-US" b="1" i="0" baseline="0"/>
            <a:t>Quality Benchmark:</a:t>
          </a:r>
          <a:r>
            <a:rPr lang="en-US" b="0" i="0" baseline="0"/>
            <a:t> Maintained a platform-wide Average Rating baseline of </a:t>
          </a:r>
          <a:r>
            <a:rPr lang="en-US" b="1" i="0" baseline="0"/>
            <a:t>2.93 / 5.00</a:t>
          </a:r>
          <a:r>
            <a:rPr lang="en-US" b="0" i="0" baseline="0"/>
            <a:t>.</a:t>
          </a:r>
          <a:endParaRPr lang="en-US"/>
        </a:p>
      </dgm:t>
    </dgm:pt>
    <dgm:pt modelId="{63098423-2E22-4590-B6CC-4BF79E3529D6}" type="parTrans" cxnId="{0A268020-AA0A-4130-8A95-9A89657C9D56}">
      <dgm:prSet/>
      <dgm:spPr/>
      <dgm:t>
        <a:bodyPr/>
        <a:lstStyle/>
        <a:p>
          <a:endParaRPr lang="en-US"/>
        </a:p>
      </dgm:t>
    </dgm:pt>
    <dgm:pt modelId="{223B4CCA-1C88-42DE-A059-8DC39107D7F2}" type="sibTrans" cxnId="{0A268020-AA0A-4130-8A95-9A89657C9D56}">
      <dgm:prSet/>
      <dgm:spPr/>
      <dgm:t>
        <a:bodyPr/>
        <a:lstStyle/>
        <a:p>
          <a:endParaRPr lang="en-US"/>
        </a:p>
      </dgm:t>
    </dgm:pt>
    <dgm:pt modelId="{49B6E65C-4193-44A4-B2E4-A1D025E7E500}" type="pres">
      <dgm:prSet presAssocID="{B4B06E9B-C965-4F99-8CD7-EAED0196ED83}" presName="linear" presStyleCnt="0">
        <dgm:presLayoutVars>
          <dgm:animLvl val="lvl"/>
          <dgm:resizeHandles val="exact"/>
        </dgm:presLayoutVars>
      </dgm:prSet>
      <dgm:spPr/>
    </dgm:pt>
    <dgm:pt modelId="{5D56D80F-6973-4CA5-967D-FD928839F47F}" type="pres">
      <dgm:prSet presAssocID="{F987BFDF-417B-4029-8BD4-2997B25CDC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E24DB31-5564-48F4-925E-988739148C35}" type="pres">
      <dgm:prSet presAssocID="{F872FFEC-F77F-4BA6-BECC-32B1183C75A7}" presName="spacer" presStyleCnt="0"/>
      <dgm:spPr/>
    </dgm:pt>
    <dgm:pt modelId="{F6C7585F-F289-45B5-AEED-649044233F01}" type="pres">
      <dgm:prSet presAssocID="{00FC8208-FE99-411C-821E-ECFF73A5675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420AEA9-C06C-4B24-ABA1-959044218682}" type="pres">
      <dgm:prSet presAssocID="{D025A489-AD20-42DA-B791-BEC16F9F225D}" presName="spacer" presStyleCnt="0"/>
      <dgm:spPr/>
    </dgm:pt>
    <dgm:pt modelId="{4694A5AA-9AD3-40E9-A18F-9E0841535601}" type="pres">
      <dgm:prSet presAssocID="{89181889-1C71-48B5-A6A2-4EEB520FC50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3E0240B-2EB3-4A80-A664-5EF6CAD064E8}" type="presOf" srcId="{F987BFDF-417B-4029-8BD4-2997B25CDCD8}" destId="{5D56D80F-6973-4CA5-967D-FD928839F47F}" srcOrd="0" destOrd="0" presId="urn:microsoft.com/office/officeart/2005/8/layout/vList2"/>
    <dgm:cxn modelId="{CF66AE14-696F-46C2-96D0-B8E9A545789C}" type="presOf" srcId="{00FC8208-FE99-411C-821E-ECFF73A56754}" destId="{F6C7585F-F289-45B5-AEED-649044233F01}" srcOrd="0" destOrd="0" presId="urn:microsoft.com/office/officeart/2005/8/layout/vList2"/>
    <dgm:cxn modelId="{0A268020-AA0A-4130-8A95-9A89657C9D56}" srcId="{B4B06E9B-C965-4F99-8CD7-EAED0196ED83}" destId="{89181889-1C71-48B5-A6A2-4EEB520FC503}" srcOrd="2" destOrd="0" parTransId="{63098423-2E22-4590-B6CC-4BF79E3529D6}" sibTransId="{223B4CCA-1C88-42DE-A059-8DC39107D7F2}"/>
    <dgm:cxn modelId="{323D5691-2B19-401E-A95C-1B16290AA154}" srcId="{B4B06E9B-C965-4F99-8CD7-EAED0196ED83}" destId="{F987BFDF-417B-4029-8BD4-2997B25CDCD8}" srcOrd="0" destOrd="0" parTransId="{111D52A9-20AA-4814-9310-1EB1310FAEB5}" sibTransId="{F872FFEC-F77F-4BA6-BECC-32B1183C75A7}"/>
    <dgm:cxn modelId="{1A8631CC-33D0-4B36-ADE9-4E73E47EBC24}" type="presOf" srcId="{B4B06E9B-C965-4F99-8CD7-EAED0196ED83}" destId="{49B6E65C-4193-44A4-B2E4-A1D025E7E500}" srcOrd="0" destOrd="0" presId="urn:microsoft.com/office/officeart/2005/8/layout/vList2"/>
    <dgm:cxn modelId="{FCFB8EE1-2260-42A5-BAE8-9BB9EDB05D71}" type="presOf" srcId="{89181889-1C71-48B5-A6A2-4EEB520FC503}" destId="{4694A5AA-9AD3-40E9-A18F-9E0841535601}" srcOrd="0" destOrd="0" presId="urn:microsoft.com/office/officeart/2005/8/layout/vList2"/>
    <dgm:cxn modelId="{FAE758E6-D28F-4346-8196-A336147C4536}" srcId="{B4B06E9B-C965-4F99-8CD7-EAED0196ED83}" destId="{00FC8208-FE99-411C-821E-ECFF73A56754}" srcOrd="1" destOrd="0" parTransId="{86696155-4C1C-4531-AB11-0E46A6570C4E}" sibTransId="{D025A489-AD20-42DA-B791-BEC16F9F225D}"/>
    <dgm:cxn modelId="{F6F8DFDF-EE10-407B-BD04-28362047059C}" type="presParOf" srcId="{49B6E65C-4193-44A4-B2E4-A1D025E7E500}" destId="{5D56D80F-6973-4CA5-967D-FD928839F47F}" srcOrd="0" destOrd="0" presId="urn:microsoft.com/office/officeart/2005/8/layout/vList2"/>
    <dgm:cxn modelId="{A5E716E0-2EA1-434E-866E-7050CB3AF4AE}" type="presParOf" srcId="{49B6E65C-4193-44A4-B2E4-A1D025E7E500}" destId="{DE24DB31-5564-48F4-925E-988739148C35}" srcOrd="1" destOrd="0" presId="urn:microsoft.com/office/officeart/2005/8/layout/vList2"/>
    <dgm:cxn modelId="{198E9E23-A938-4715-94C6-5506DBD30B48}" type="presParOf" srcId="{49B6E65C-4193-44A4-B2E4-A1D025E7E500}" destId="{F6C7585F-F289-45B5-AEED-649044233F01}" srcOrd="2" destOrd="0" presId="urn:microsoft.com/office/officeart/2005/8/layout/vList2"/>
    <dgm:cxn modelId="{F4BB7B1D-45DC-4B56-9714-59E678D41099}" type="presParOf" srcId="{49B6E65C-4193-44A4-B2E4-A1D025E7E500}" destId="{5420AEA9-C06C-4B24-ABA1-959044218682}" srcOrd="3" destOrd="0" presId="urn:microsoft.com/office/officeart/2005/8/layout/vList2"/>
    <dgm:cxn modelId="{2AACFCB1-029A-4A89-B296-40AC80AD7296}" type="presParOf" srcId="{49B6E65C-4193-44A4-B2E4-A1D025E7E500}" destId="{4694A5AA-9AD3-40E9-A18F-9E08415356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0AE341-C3BF-4518-A4CB-7092605156A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853D58-5D85-48BF-B5E9-CA316DF8630B}">
      <dgm:prSet/>
      <dgm:spPr/>
      <dgm:t>
        <a:bodyPr/>
        <a:lstStyle/>
        <a:p>
          <a:r>
            <a:rPr lang="en-US" b="1" i="0" baseline="0"/>
            <a:t>Targeted Scheduling:</a:t>
          </a:r>
          <a:r>
            <a:rPr lang="en-US" b="0" i="0" baseline="0"/>
            <a:t> Shift consultant login hours to mirror the major morning spike (</a:t>
          </a:r>
          <a:r>
            <a:rPr lang="en-US" b="1" i="0" baseline="0"/>
            <a:t>07:00–11:00</a:t>
          </a:r>
          <a:r>
            <a:rPr lang="en-US" b="0" i="0" baseline="0"/>
            <a:t>) to decrease the </a:t>
          </a:r>
          <a:r>
            <a:rPr lang="en-US" b="1" i="0" baseline="0"/>
            <a:t>1,270 Busy instances</a:t>
          </a:r>
          <a:r>
            <a:rPr lang="en-US" b="0" i="0" baseline="0"/>
            <a:t>.</a:t>
          </a:r>
          <a:endParaRPr lang="en-US"/>
        </a:p>
      </dgm:t>
    </dgm:pt>
    <dgm:pt modelId="{B04B553E-2FF0-4553-8BAB-39D824C2677B}" type="parTrans" cxnId="{9D7DE495-E42C-4B95-B0F5-A23A457F9608}">
      <dgm:prSet/>
      <dgm:spPr/>
      <dgm:t>
        <a:bodyPr/>
        <a:lstStyle/>
        <a:p>
          <a:endParaRPr lang="en-US"/>
        </a:p>
      </dgm:t>
    </dgm:pt>
    <dgm:pt modelId="{27FADF4F-DA85-479B-9076-886AF0F713BF}" type="sibTrans" cxnId="{9D7DE495-E42C-4B95-B0F5-A23A457F9608}">
      <dgm:prSet/>
      <dgm:spPr/>
      <dgm:t>
        <a:bodyPr/>
        <a:lstStyle/>
        <a:p>
          <a:endParaRPr lang="en-US"/>
        </a:p>
      </dgm:t>
    </dgm:pt>
    <dgm:pt modelId="{9D3E89DD-41E7-49A7-BEFD-75E20FF62D68}">
      <dgm:prSet/>
      <dgm:spPr/>
      <dgm:t>
        <a:bodyPr/>
        <a:lstStyle/>
        <a:p>
          <a:r>
            <a:rPr lang="en-US" b="1" i="0" baseline="0"/>
            <a:t>Feature Optimization:</a:t>
          </a:r>
          <a:r>
            <a:rPr lang="en-US" b="0" i="0" baseline="0"/>
            <a:t> Double down on mobile application enhancements, as the </a:t>
          </a:r>
          <a:r>
            <a:rPr lang="en-US" b="1" i="0" baseline="0"/>
            <a:t>App channel</a:t>
          </a:r>
          <a:r>
            <a:rPr lang="en-US" b="0" i="0" baseline="0"/>
            <a:t> hosts over 70% of user traffic.</a:t>
          </a:r>
          <a:endParaRPr lang="en-US"/>
        </a:p>
      </dgm:t>
    </dgm:pt>
    <dgm:pt modelId="{29E300EB-FE9A-418E-B475-B396236115AE}" type="parTrans" cxnId="{39917963-92C8-49D2-902E-4000E7B8BAFC}">
      <dgm:prSet/>
      <dgm:spPr/>
      <dgm:t>
        <a:bodyPr/>
        <a:lstStyle/>
        <a:p>
          <a:endParaRPr lang="en-US"/>
        </a:p>
      </dgm:t>
    </dgm:pt>
    <dgm:pt modelId="{42AC57B7-E7A1-4E14-89B8-94B1CC2A4939}" type="sibTrans" cxnId="{39917963-92C8-49D2-902E-4000E7B8BAFC}">
      <dgm:prSet/>
      <dgm:spPr/>
      <dgm:t>
        <a:bodyPr/>
        <a:lstStyle/>
        <a:p>
          <a:endParaRPr lang="en-US"/>
        </a:p>
      </dgm:t>
    </dgm:pt>
    <dgm:pt modelId="{52F92E54-8226-4AE6-BE40-B31244E5FF49}">
      <dgm:prSet/>
      <dgm:spPr/>
      <dgm:t>
        <a:bodyPr/>
        <a:lstStyle/>
        <a:p>
          <a:r>
            <a:rPr lang="en-US" b="1" i="0" baseline="0"/>
            <a:t>Quality Intervention:</a:t>
          </a:r>
          <a:r>
            <a:rPr lang="en-US" b="0" i="0" baseline="0"/>
            <a:t> Introduce post-session incentives to address the high volume of 0-rated interactions, moving them toward verified user feedback loops.</a:t>
          </a:r>
          <a:endParaRPr lang="en-US"/>
        </a:p>
      </dgm:t>
    </dgm:pt>
    <dgm:pt modelId="{98E54A6E-CFE0-4FE2-805F-73B5CAC519B7}" type="parTrans" cxnId="{624C25A7-30B5-4ED1-8562-7D32BD5F0315}">
      <dgm:prSet/>
      <dgm:spPr/>
      <dgm:t>
        <a:bodyPr/>
        <a:lstStyle/>
        <a:p>
          <a:endParaRPr lang="en-US"/>
        </a:p>
      </dgm:t>
    </dgm:pt>
    <dgm:pt modelId="{ACDA00AC-F1D6-4543-BF1E-0DA6CF002CEF}" type="sibTrans" cxnId="{624C25A7-30B5-4ED1-8562-7D32BD5F0315}">
      <dgm:prSet/>
      <dgm:spPr/>
      <dgm:t>
        <a:bodyPr/>
        <a:lstStyle/>
        <a:p>
          <a:endParaRPr lang="en-US"/>
        </a:p>
      </dgm:t>
    </dgm:pt>
    <dgm:pt modelId="{B035D01F-A35A-4D56-8402-5E7DB1098B5D}" type="pres">
      <dgm:prSet presAssocID="{F10AE341-C3BF-4518-A4CB-7092605156A9}" presName="outerComposite" presStyleCnt="0">
        <dgm:presLayoutVars>
          <dgm:chMax val="5"/>
          <dgm:dir/>
          <dgm:resizeHandles val="exact"/>
        </dgm:presLayoutVars>
      </dgm:prSet>
      <dgm:spPr/>
    </dgm:pt>
    <dgm:pt modelId="{21F4B1AC-F274-44C5-8281-25495ADCA79E}" type="pres">
      <dgm:prSet presAssocID="{F10AE341-C3BF-4518-A4CB-7092605156A9}" presName="dummyMaxCanvas" presStyleCnt="0">
        <dgm:presLayoutVars/>
      </dgm:prSet>
      <dgm:spPr/>
    </dgm:pt>
    <dgm:pt modelId="{689D8B5C-CD95-4EC0-9149-96D52E7667CD}" type="pres">
      <dgm:prSet presAssocID="{F10AE341-C3BF-4518-A4CB-7092605156A9}" presName="ThreeNodes_1" presStyleLbl="node1" presStyleIdx="0" presStyleCnt="3">
        <dgm:presLayoutVars>
          <dgm:bulletEnabled val="1"/>
        </dgm:presLayoutVars>
      </dgm:prSet>
      <dgm:spPr/>
    </dgm:pt>
    <dgm:pt modelId="{B62E075F-DA7E-4FD5-9CDF-BBEF7FE18E0F}" type="pres">
      <dgm:prSet presAssocID="{F10AE341-C3BF-4518-A4CB-7092605156A9}" presName="ThreeNodes_2" presStyleLbl="node1" presStyleIdx="1" presStyleCnt="3">
        <dgm:presLayoutVars>
          <dgm:bulletEnabled val="1"/>
        </dgm:presLayoutVars>
      </dgm:prSet>
      <dgm:spPr/>
    </dgm:pt>
    <dgm:pt modelId="{569C7ADC-42F4-4AC6-95EB-6C9EE089CC94}" type="pres">
      <dgm:prSet presAssocID="{F10AE341-C3BF-4518-A4CB-7092605156A9}" presName="ThreeNodes_3" presStyleLbl="node1" presStyleIdx="2" presStyleCnt="3">
        <dgm:presLayoutVars>
          <dgm:bulletEnabled val="1"/>
        </dgm:presLayoutVars>
      </dgm:prSet>
      <dgm:spPr/>
    </dgm:pt>
    <dgm:pt modelId="{1C58CEB8-CF39-438F-8AA0-59DE4C3C85E1}" type="pres">
      <dgm:prSet presAssocID="{F10AE341-C3BF-4518-A4CB-7092605156A9}" presName="ThreeConn_1-2" presStyleLbl="fgAccFollowNode1" presStyleIdx="0" presStyleCnt="2">
        <dgm:presLayoutVars>
          <dgm:bulletEnabled val="1"/>
        </dgm:presLayoutVars>
      </dgm:prSet>
      <dgm:spPr/>
    </dgm:pt>
    <dgm:pt modelId="{371E18A7-0595-4E59-8A96-BDABED6031F5}" type="pres">
      <dgm:prSet presAssocID="{F10AE341-C3BF-4518-A4CB-7092605156A9}" presName="ThreeConn_2-3" presStyleLbl="fgAccFollowNode1" presStyleIdx="1" presStyleCnt="2">
        <dgm:presLayoutVars>
          <dgm:bulletEnabled val="1"/>
        </dgm:presLayoutVars>
      </dgm:prSet>
      <dgm:spPr/>
    </dgm:pt>
    <dgm:pt modelId="{8B6E9A37-A1DE-44D1-A159-90835A53E1E7}" type="pres">
      <dgm:prSet presAssocID="{F10AE341-C3BF-4518-A4CB-7092605156A9}" presName="ThreeNodes_1_text" presStyleLbl="node1" presStyleIdx="2" presStyleCnt="3">
        <dgm:presLayoutVars>
          <dgm:bulletEnabled val="1"/>
        </dgm:presLayoutVars>
      </dgm:prSet>
      <dgm:spPr/>
    </dgm:pt>
    <dgm:pt modelId="{0362B23A-51E5-438B-AB7A-07D190EF1556}" type="pres">
      <dgm:prSet presAssocID="{F10AE341-C3BF-4518-A4CB-7092605156A9}" presName="ThreeNodes_2_text" presStyleLbl="node1" presStyleIdx="2" presStyleCnt="3">
        <dgm:presLayoutVars>
          <dgm:bulletEnabled val="1"/>
        </dgm:presLayoutVars>
      </dgm:prSet>
      <dgm:spPr/>
    </dgm:pt>
    <dgm:pt modelId="{95A561F0-4D00-45C7-B4D6-B171C263BAF5}" type="pres">
      <dgm:prSet presAssocID="{F10AE341-C3BF-4518-A4CB-7092605156A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B471002-00F8-4D7C-A3D1-E8695937C309}" type="presOf" srcId="{27FADF4F-DA85-479B-9076-886AF0F713BF}" destId="{1C58CEB8-CF39-438F-8AA0-59DE4C3C85E1}" srcOrd="0" destOrd="0" presId="urn:microsoft.com/office/officeart/2005/8/layout/vProcess5"/>
    <dgm:cxn modelId="{ACD04B15-418E-4869-98D4-8C19830594D9}" type="presOf" srcId="{DF853D58-5D85-48BF-B5E9-CA316DF8630B}" destId="{689D8B5C-CD95-4EC0-9149-96D52E7667CD}" srcOrd="0" destOrd="0" presId="urn:microsoft.com/office/officeart/2005/8/layout/vProcess5"/>
    <dgm:cxn modelId="{E75D7B24-24D9-4F87-A6B8-D14B78DA7D8C}" type="presOf" srcId="{F10AE341-C3BF-4518-A4CB-7092605156A9}" destId="{B035D01F-A35A-4D56-8402-5E7DB1098B5D}" srcOrd="0" destOrd="0" presId="urn:microsoft.com/office/officeart/2005/8/layout/vProcess5"/>
    <dgm:cxn modelId="{39917963-92C8-49D2-902E-4000E7B8BAFC}" srcId="{F10AE341-C3BF-4518-A4CB-7092605156A9}" destId="{9D3E89DD-41E7-49A7-BEFD-75E20FF62D68}" srcOrd="1" destOrd="0" parTransId="{29E300EB-FE9A-418E-B475-B396236115AE}" sibTransId="{42AC57B7-E7A1-4E14-89B8-94B1CC2A4939}"/>
    <dgm:cxn modelId="{97B20F6C-CCF7-44E2-B093-859B6AD198CB}" type="presOf" srcId="{DF853D58-5D85-48BF-B5E9-CA316DF8630B}" destId="{8B6E9A37-A1DE-44D1-A159-90835A53E1E7}" srcOrd="1" destOrd="0" presId="urn:microsoft.com/office/officeart/2005/8/layout/vProcess5"/>
    <dgm:cxn modelId="{3DC99A73-D90F-43FE-AF44-C766C1E85685}" type="presOf" srcId="{52F92E54-8226-4AE6-BE40-B31244E5FF49}" destId="{569C7ADC-42F4-4AC6-95EB-6C9EE089CC94}" srcOrd="0" destOrd="0" presId="urn:microsoft.com/office/officeart/2005/8/layout/vProcess5"/>
    <dgm:cxn modelId="{9D7DE495-E42C-4B95-B0F5-A23A457F9608}" srcId="{F10AE341-C3BF-4518-A4CB-7092605156A9}" destId="{DF853D58-5D85-48BF-B5E9-CA316DF8630B}" srcOrd="0" destOrd="0" parTransId="{B04B553E-2FF0-4553-8BAB-39D824C2677B}" sibTransId="{27FADF4F-DA85-479B-9076-886AF0F713BF}"/>
    <dgm:cxn modelId="{624C25A7-30B5-4ED1-8562-7D32BD5F0315}" srcId="{F10AE341-C3BF-4518-A4CB-7092605156A9}" destId="{52F92E54-8226-4AE6-BE40-B31244E5FF49}" srcOrd="2" destOrd="0" parTransId="{98E54A6E-CFE0-4FE2-805F-73B5CAC519B7}" sibTransId="{ACDA00AC-F1D6-4543-BF1E-0DA6CF002CEF}"/>
    <dgm:cxn modelId="{9E66A2D1-B75E-4850-AF3E-70A532DA353D}" type="presOf" srcId="{52F92E54-8226-4AE6-BE40-B31244E5FF49}" destId="{95A561F0-4D00-45C7-B4D6-B171C263BAF5}" srcOrd="1" destOrd="0" presId="urn:microsoft.com/office/officeart/2005/8/layout/vProcess5"/>
    <dgm:cxn modelId="{EF4382DE-1BDC-4D75-85FB-F352306C3BE0}" type="presOf" srcId="{42AC57B7-E7A1-4E14-89B8-94B1CC2A4939}" destId="{371E18A7-0595-4E59-8A96-BDABED6031F5}" srcOrd="0" destOrd="0" presId="urn:microsoft.com/office/officeart/2005/8/layout/vProcess5"/>
    <dgm:cxn modelId="{B52D59DF-1F68-4F48-893D-86FACCF9D32B}" type="presOf" srcId="{9D3E89DD-41E7-49A7-BEFD-75E20FF62D68}" destId="{0362B23A-51E5-438B-AB7A-07D190EF1556}" srcOrd="1" destOrd="0" presId="urn:microsoft.com/office/officeart/2005/8/layout/vProcess5"/>
    <dgm:cxn modelId="{4025E8EA-B2AE-4EB3-A4B7-C4E7FDA1BABD}" type="presOf" srcId="{9D3E89DD-41E7-49A7-BEFD-75E20FF62D68}" destId="{B62E075F-DA7E-4FD5-9CDF-BBEF7FE18E0F}" srcOrd="0" destOrd="0" presId="urn:microsoft.com/office/officeart/2005/8/layout/vProcess5"/>
    <dgm:cxn modelId="{0B6F96C3-3602-4721-BB94-919817396D3D}" type="presParOf" srcId="{B035D01F-A35A-4D56-8402-5E7DB1098B5D}" destId="{21F4B1AC-F274-44C5-8281-25495ADCA79E}" srcOrd="0" destOrd="0" presId="urn:microsoft.com/office/officeart/2005/8/layout/vProcess5"/>
    <dgm:cxn modelId="{2FA78AA7-B73F-4DE2-AFAD-3C0758D5D91B}" type="presParOf" srcId="{B035D01F-A35A-4D56-8402-5E7DB1098B5D}" destId="{689D8B5C-CD95-4EC0-9149-96D52E7667CD}" srcOrd="1" destOrd="0" presId="urn:microsoft.com/office/officeart/2005/8/layout/vProcess5"/>
    <dgm:cxn modelId="{6493FB9C-3DB6-4509-8391-E26FE7CE82D0}" type="presParOf" srcId="{B035D01F-A35A-4D56-8402-5E7DB1098B5D}" destId="{B62E075F-DA7E-4FD5-9CDF-BBEF7FE18E0F}" srcOrd="2" destOrd="0" presId="urn:microsoft.com/office/officeart/2005/8/layout/vProcess5"/>
    <dgm:cxn modelId="{0E6B51AC-848A-4F0A-A465-53142F40DC19}" type="presParOf" srcId="{B035D01F-A35A-4D56-8402-5E7DB1098B5D}" destId="{569C7ADC-42F4-4AC6-95EB-6C9EE089CC94}" srcOrd="3" destOrd="0" presId="urn:microsoft.com/office/officeart/2005/8/layout/vProcess5"/>
    <dgm:cxn modelId="{CF1A47E1-D677-47D6-8B0D-B6C25BD0C5AA}" type="presParOf" srcId="{B035D01F-A35A-4D56-8402-5E7DB1098B5D}" destId="{1C58CEB8-CF39-438F-8AA0-59DE4C3C85E1}" srcOrd="4" destOrd="0" presId="urn:microsoft.com/office/officeart/2005/8/layout/vProcess5"/>
    <dgm:cxn modelId="{DF951207-997A-4713-99CE-2A10214F6984}" type="presParOf" srcId="{B035D01F-A35A-4D56-8402-5E7DB1098B5D}" destId="{371E18A7-0595-4E59-8A96-BDABED6031F5}" srcOrd="5" destOrd="0" presId="urn:microsoft.com/office/officeart/2005/8/layout/vProcess5"/>
    <dgm:cxn modelId="{9B8AC9E7-7E16-4738-8CE9-8975EAB4A8B7}" type="presParOf" srcId="{B035D01F-A35A-4D56-8402-5E7DB1098B5D}" destId="{8B6E9A37-A1DE-44D1-A159-90835A53E1E7}" srcOrd="6" destOrd="0" presId="urn:microsoft.com/office/officeart/2005/8/layout/vProcess5"/>
    <dgm:cxn modelId="{C671EA9D-DF0D-4F4B-B92B-2BBB8C16B132}" type="presParOf" srcId="{B035D01F-A35A-4D56-8402-5E7DB1098B5D}" destId="{0362B23A-51E5-438B-AB7A-07D190EF1556}" srcOrd="7" destOrd="0" presId="urn:microsoft.com/office/officeart/2005/8/layout/vProcess5"/>
    <dgm:cxn modelId="{FF42B6B1-937E-48F3-854B-9B0CB542FE76}" type="presParOf" srcId="{B035D01F-A35A-4D56-8402-5E7DB1098B5D}" destId="{95A561F0-4D00-45C7-B4D6-B171C263BAF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BD943-B62C-478E-B55C-702C0FD6EC76}">
      <dsp:nvSpPr>
        <dsp:cNvPr id="0" name=""/>
        <dsp:cNvSpPr/>
      </dsp:nvSpPr>
      <dsp:spPr>
        <a:xfrm>
          <a:off x="0" y="94190"/>
          <a:ext cx="6620255" cy="15500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Context:</a:t>
          </a:r>
          <a:r>
            <a:rPr lang="en-US" sz="2200" b="0" i="0" kern="1200" baseline="0"/>
            <a:t> AstroSage provides digital spiritual consultation services connecting users with astrological experts (Gurus) via calls and chats.</a:t>
          </a:r>
          <a:endParaRPr lang="en-US" sz="2200" kern="1200"/>
        </a:p>
      </dsp:txBody>
      <dsp:txXfrm>
        <a:off x="75666" y="169856"/>
        <a:ext cx="6468923" cy="1398698"/>
      </dsp:txXfrm>
    </dsp:sp>
    <dsp:sp modelId="{EBC02A4E-DBD5-4056-9C3B-372046CF5A51}">
      <dsp:nvSpPr>
        <dsp:cNvPr id="0" name=""/>
        <dsp:cNvSpPr/>
      </dsp:nvSpPr>
      <dsp:spPr>
        <a:xfrm>
          <a:off x="0" y="1707580"/>
          <a:ext cx="6620255" cy="1550030"/>
        </a:xfrm>
        <a:prstGeom prst="round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Core Objective:</a:t>
          </a:r>
          <a:r>
            <a:rPr lang="en-US" sz="2200" b="0" i="0" kern="1200" baseline="0"/>
            <a:t> To evaluate operational metrics, consultation channels, traffic distributions, and rating feedback to maximize platform performance.</a:t>
          </a:r>
          <a:endParaRPr lang="en-US" sz="2200" kern="1200"/>
        </a:p>
      </dsp:txBody>
      <dsp:txXfrm>
        <a:off x="75666" y="1783246"/>
        <a:ext cx="6468923" cy="1398698"/>
      </dsp:txXfrm>
    </dsp:sp>
    <dsp:sp modelId="{7C77E563-FD9D-4453-9CD7-68E74D11329A}">
      <dsp:nvSpPr>
        <dsp:cNvPr id="0" name=""/>
        <dsp:cNvSpPr/>
      </dsp:nvSpPr>
      <dsp:spPr>
        <a:xfrm>
          <a:off x="0" y="3320971"/>
          <a:ext cx="6620255" cy="155003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Strategic Goal:</a:t>
          </a:r>
          <a:r>
            <a:rPr lang="en-US" sz="2200" b="0" i="0" kern="1200" baseline="0"/>
            <a:t> Identify service bottlenecks (e.g., missed connections) and top revenue-driving vectors to optimize consultant scheduling and improve user retention.</a:t>
          </a:r>
          <a:endParaRPr lang="en-US" sz="2200" kern="1200"/>
        </a:p>
      </dsp:txBody>
      <dsp:txXfrm>
        <a:off x="75666" y="3396637"/>
        <a:ext cx="6468923" cy="13986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9F80E-BDA6-4068-9210-CFE912DE7B95}">
      <dsp:nvSpPr>
        <dsp:cNvPr id="0" name=""/>
        <dsp:cNvSpPr/>
      </dsp:nvSpPr>
      <dsp:spPr>
        <a:xfrm>
          <a:off x="0" y="94190"/>
          <a:ext cx="6620255" cy="15500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Capacity Bottlenecks:</a:t>
          </a:r>
          <a:r>
            <a:rPr lang="en-US" sz="2200" b="0" i="0" kern="1200" baseline="0"/>
            <a:t> High customer drop-offs and "Busy" statuses during peak hours indicate a supply-demand mismatch in consultant availability.</a:t>
          </a:r>
          <a:endParaRPr lang="en-US" sz="2200" kern="1200"/>
        </a:p>
      </dsp:txBody>
      <dsp:txXfrm>
        <a:off x="75666" y="169856"/>
        <a:ext cx="6468923" cy="1398698"/>
      </dsp:txXfrm>
    </dsp:sp>
    <dsp:sp modelId="{9407024C-1B76-4FF3-A478-DA24634AA6B1}">
      <dsp:nvSpPr>
        <dsp:cNvPr id="0" name=""/>
        <dsp:cNvSpPr/>
      </dsp:nvSpPr>
      <dsp:spPr>
        <a:xfrm>
          <a:off x="0" y="1707580"/>
          <a:ext cx="6620255" cy="1550030"/>
        </a:xfrm>
        <a:prstGeom prst="round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Revenue Optimization:</a:t>
          </a:r>
          <a:r>
            <a:rPr lang="en-US" sz="2200" b="0" i="0" kern="1200" baseline="0"/>
            <a:t> Unbalanced monetization across consultation types requires clear data boundaries to isolate underperforming channels.</a:t>
          </a:r>
          <a:endParaRPr lang="en-US" sz="2200" kern="1200"/>
        </a:p>
      </dsp:txBody>
      <dsp:txXfrm>
        <a:off x="75666" y="1783246"/>
        <a:ext cx="6468923" cy="1398698"/>
      </dsp:txXfrm>
    </dsp:sp>
    <dsp:sp modelId="{06AFA8B9-3660-46BA-9BB7-436D4D3013DA}">
      <dsp:nvSpPr>
        <dsp:cNvPr id="0" name=""/>
        <dsp:cNvSpPr/>
      </dsp:nvSpPr>
      <dsp:spPr>
        <a:xfrm>
          <a:off x="0" y="3320971"/>
          <a:ext cx="6620255" cy="155003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Quality Control:</a:t>
          </a:r>
          <a:r>
            <a:rPr lang="en-US" sz="2200" b="0" i="0" kern="1200" baseline="0"/>
            <a:t> A high concentration of unrated or low-rated profiles among both users and consultants poses a risk to consistent platform quality.</a:t>
          </a:r>
          <a:endParaRPr lang="en-US" sz="2200" kern="1200"/>
        </a:p>
      </dsp:txBody>
      <dsp:txXfrm>
        <a:off x="75666" y="3396637"/>
        <a:ext cx="6468923" cy="1398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4D8E9-DF15-45BC-8D0E-2FF5BB678AD1}">
      <dsp:nvSpPr>
        <dsp:cNvPr id="0" name=""/>
        <dsp:cNvSpPr/>
      </dsp:nvSpPr>
      <dsp:spPr>
        <a:xfrm>
          <a:off x="517" y="1431521"/>
          <a:ext cx="2094690" cy="25136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Source Material:</a:t>
          </a:r>
          <a:r>
            <a:rPr lang="en-US" sz="1100" b="0" i="0" kern="1200" baseline="0"/>
            <a:t> Structured transactional data extracted from </a:t>
          </a:r>
          <a:r>
            <a:rPr lang="en-US" sz="1100" b="1" i="0" kern="1200" baseline="0"/>
            <a:t>"Astrosage-excel project.xlsx"</a:t>
          </a:r>
          <a:r>
            <a:rPr lang="en-US" sz="1100" b="0" i="0" kern="1200" baseline="0"/>
            <a:t> containing comprehensive user/consultant logs.</a:t>
          </a:r>
          <a:endParaRPr lang="en-US" sz="1100" kern="1200"/>
        </a:p>
      </dsp:txBody>
      <dsp:txXfrm>
        <a:off x="517" y="2436973"/>
        <a:ext cx="2094690" cy="1508177"/>
      </dsp:txXfrm>
    </dsp:sp>
    <dsp:sp modelId="{D37DCA1C-E858-4592-9591-944D46899A9A}">
      <dsp:nvSpPr>
        <dsp:cNvPr id="0" name=""/>
        <dsp:cNvSpPr/>
      </dsp:nvSpPr>
      <dsp:spPr>
        <a:xfrm>
          <a:off x="517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01</a:t>
          </a:r>
        </a:p>
      </dsp:txBody>
      <dsp:txXfrm>
        <a:off x="517" y="1431521"/>
        <a:ext cx="2094690" cy="1005451"/>
      </dsp:txXfrm>
    </dsp:sp>
    <dsp:sp modelId="{A12CCDCF-7D6A-456F-BDAE-B4F0B9417319}">
      <dsp:nvSpPr>
        <dsp:cNvPr id="0" name=""/>
        <dsp:cNvSpPr/>
      </dsp:nvSpPr>
      <dsp:spPr>
        <a:xfrm>
          <a:off x="2262782" y="1431521"/>
          <a:ext cx="2094690" cy="25136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Key Dimensions:</a:t>
          </a:r>
          <a:r>
            <a:rPr lang="en-US" sz="1100" b="0" i="0" kern="1200" baseline="0"/>
            <a:t> Analyzed over 45 variables including consultation type, call/chat status, device channels, ratings, financial net amounts, and time metrics.</a:t>
          </a:r>
          <a:endParaRPr lang="en-US" sz="1100" kern="1200"/>
        </a:p>
      </dsp:txBody>
      <dsp:txXfrm>
        <a:off x="2262782" y="2436973"/>
        <a:ext cx="2094690" cy="1508177"/>
      </dsp:txXfrm>
    </dsp:sp>
    <dsp:sp modelId="{0A82B39E-AFD4-4E85-9C3C-050841B4D261}">
      <dsp:nvSpPr>
        <dsp:cNvPr id="0" name=""/>
        <dsp:cNvSpPr/>
      </dsp:nvSpPr>
      <dsp:spPr>
        <a:xfrm>
          <a:off x="2262782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02</a:t>
          </a:r>
        </a:p>
      </dsp:txBody>
      <dsp:txXfrm>
        <a:off x="2262782" y="1431521"/>
        <a:ext cx="2094690" cy="1005451"/>
      </dsp:txXfrm>
    </dsp:sp>
    <dsp:sp modelId="{0DDE0D13-73C4-46F2-90C5-AE71E33FA247}">
      <dsp:nvSpPr>
        <dsp:cNvPr id="0" name=""/>
        <dsp:cNvSpPr/>
      </dsp:nvSpPr>
      <dsp:spPr>
        <a:xfrm>
          <a:off x="4525048" y="1431521"/>
          <a:ext cx="2094690" cy="25136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0" rIns="20690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Scale of Active Reach:</a:t>
          </a:r>
          <a:r>
            <a:rPr lang="en-US" sz="1100" b="0" i="0" kern="1200" baseline="0"/>
            <a:t> Features a tracked footprint of </a:t>
          </a:r>
          <a:r>
            <a:rPr lang="en-US" sz="1100" b="1" i="0" kern="1200" baseline="0"/>
            <a:t>28,028</a:t>
          </a:r>
          <a:r>
            <a:rPr lang="en-US" sz="1100" b="0" i="0" kern="1200" baseline="0"/>
            <a:t> total active users generating </a:t>
          </a:r>
          <a:r>
            <a:rPr lang="en-US" sz="1100" b="1" i="0" kern="1200" baseline="0"/>
            <a:t>₹2,13,987</a:t>
          </a:r>
          <a:r>
            <a:rPr lang="en-US" sz="1100" b="0" i="0" kern="1200" baseline="0"/>
            <a:t> in gross revenue.</a:t>
          </a:r>
          <a:endParaRPr lang="en-US" sz="1100" kern="1200"/>
        </a:p>
      </dsp:txBody>
      <dsp:txXfrm>
        <a:off x="4525048" y="2436973"/>
        <a:ext cx="2094690" cy="1508177"/>
      </dsp:txXfrm>
    </dsp:sp>
    <dsp:sp modelId="{7A3935A0-5B9D-4A3C-9B3A-2EB40E056ED5}">
      <dsp:nvSpPr>
        <dsp:cNvPr id="0" name=""/>
        <dsp:cNvSpPr/>
      </dsp:nvSpPr>
      <dsp:spPr>
        <a:xfrm>
          <a:off x="4525048" y="1431521"/>
          <a:ext cx="2094690" cy="100545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909" tIns="165100" rIns="206909" bIns="16510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03</a:t>
          </a:r>
        </a:p>
      </dsp:txBody>
      <dsp:txXfrm>
        <a:off x="4525048" y="1431521"/>
        <a:ext cx="2094690" cy="10054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2EBEE-D4B7-416A-BC9D-23F749014146}">
      <dsp:nvSpPr>
        <dsp:cNvPr id="0" name=""/>
        <dsp:cNvSpPr/>
      </dsp:nvSpPr>
      <dsp:spPr>
        <a:xfrm>
          <a:off x="0" y="656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F4356-DEB0-4FDD-ABD2-A411B216C759}">
      <dsp:nvSpPr>
        <dsp:cNvPr id="0" name=""/>
        <dsp:cNvSpPr/>
      </dsp:nvSpPr>
      <dsp:spPr>
        <a:xfrm>
          <a:off x="464584" y="346215"/>
          <a:ext cx="844699" cy="844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47791-AA98-4CF5-BBE3-CA715B9D9113}">
      <dsp:nvSpPr>
        <dsp:cNvPr id="0" name=""/>
        <dsp:cNvSpPr/>
      </dsp:nvSpPr>
      <dsp:spPr>
        <a:xfrm>
          <a:off x="1773868" y="656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Data Extraction &amp; Cleaning:</a:t>
          </a:r>
          <a:r>
            <a:rPr lang="en-US" sz="1900" b="0" i="0" kern="1200" baseline="0"/>
            <a:t> Handled missing data points, isolated system anomalies, and verified chronological timestamps within the spreadsheet.</a:t>
          </a:r>
          <a:endParaRPr lang="en-US" sz="1900" kern="1200"/>
        </a:p>
      </dsp:txBody>
      <dsp:txXfrm>
        <a:off x="1773868" y="656"/>
        <a:ext cx="4846387" cy="1535816"/>
      </dsp:txXfrm>
    </dsp:sp>
    <dsp:sp modelId="{B42A3CD7-6AB3-4E5D-8F3F-301BCF6ADE45}">
      <dsp:nvSpPr>
        <dsp:cNvPr id="0" name=""/>
        <dsp:cNvSpPr/>
      </dsp:nvSpPr>
      <dsp:spPr>
        <a:xfrm>
          <a:off x="0" y="1920427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5C3D8-E6F4-47C7-B88F-FD5139BDEF90}">
      <dsp:nvSpPr>
        <dsp:cNvPr id="0" name=""/>
        <dsp:cNvSpPr/>
      </dsp:nvSpPr>
      <dsp:spPr>
        <a:xfrm>
          <a:off x="464584" y="2265986"/>
          <a:ext cx="844699" cy="844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BC282-A313-491C-9DFC-33D4B80A82A8}">
      <dsp:nvSpPr>
        <dsp:cNvPr id="0" name=""/>
        <dsp:cNvSpPr/>
      </dsp:nvSpPr>
      <dsp:spPr>
        <a:xfrm>
          <a:off x="1773868" y="1920427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Aggregation &amp; Logic:</a:t>
          </a:r>
          <a:r>
            <a:rPr lang="en-US" sz="1900" b="0" i="0" kern="1200" baseline="0"/>
            <a:t> Implemented logical groupings to separate interactions by hour, day, consultation category, and specific consultant IDs.</a:t>
          </a:r>
          <a:endParaRPr lang="en-US" sz="1900" kern="1200"/>
        </a:p>
      </dsp:txBody>
      <dsp:txXfrm>
        <a:off x="1773868" y="1920427"/>
        <a:ext cx="4846387" cy="1535816"/>
      </dsp:txXfrm>
    </dsp:sp>
    <dsp:sp modelId="{302ADA3A-712E-4AF2-9D64-6063E5C934AB}">
      <dsp:nvSpPr>
        <dsp:cNvPr id="0" name=""/>
        <dsp:cNvSpPr/>
      </dsp:nvSpPr>
      <dsp:spPr>
        <a:xfrm>
          <a:off x="0" y="3840198"/>
          <a:ext cx="6620255" cy="15358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FEC2B-5CCF-47D8-9876-BBD2D507C29E}">
      <dsp:nvSpPr>
        <dsp:cNvPr id="0" name=""/>
        <dsp:cNvSpPr/>
      </dsp:nvSpPr>
      <dsp:spPr>
        <a:xfrm>
          <a:off x="464584" y="4185757"/>
          <a:ext cx="844699" cy="8446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51C6E-4275-4C22-8415-C97155CE2922}">
      <dsp:nvSpPr>
        <dsp:cNvPr id="0" name=""/>
        <dsp:cNvSpPr/>
      </dsp:nvSpPr>
      <dsp:spPr>
        <a:xfrm>
          <a:off x="1773868" y="3840198"/>
          <a:ext cx="4846387" cy="1535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541" tIns="162541" rIns="162541" bIns="1625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Visualization Architecture:</a:t>
          </a:r>
          <a:r>
            <a:rPr lang="en-US" sz="1900" b="0" i="0" kern="1200" baseline="0"/>
            <a:t> Synthesized raw data arrays into a dynamic, filterable executive view using uniform charts to support strategic business decisions.</a:t>
          </a:r>
          <a:endParaRPr lang="en-US" sz="1900" kern="1200"/>
        </a:p>
      </dsp:txBody>
      <dsp:txXfrm>
        <a:off x="1773868" y="3840198"/>
        <a:ext cx="4846387" cy="1535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6D80F-6973-4CA5-967D-FD928839F47F}">
      <dsp:nvSpPr>
        <dsp:cNvPr id="0" name=""/>
        <dsp:cNvSpPr/>
      </dsp:nvSpPr>
      <dsp:spPr>
        <a:xfrm>
          <a:off x="0" y="7010"/>
          <a:ext cx="6620255" cy="15947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Financial Health:</a:t>
          </a:r>
          <a:r>
            <a:rPr lang="en-US" sz="2900" b="0" i="0" kern="1200" baseline="0"/>
            <a:t> Generated a Total Revenue of </a:t>
          </a:r>
          <a:r>
            <a:rPr lang="en-US" sz="2900" b="1" i="0" kern="1200" baseline="0"/>
            <a:t>₹2,13,987</a:t>
          </a:r>
          <a:r>
            <a:rPr lang="en-US" sz="2900" b="0" i="0" kern="1200" baseline="0"/>
            <a:t> with a robust Net Profit of </a:t>
          </a:r>
          <a:r>
            <a:rPr lang="en-US" sz="2900" b="1" i="0" kern="1200" baseline="0"/>
            <a:t>₹1,14,841</a:t>
          </a:r>
          <a:r>
            <a:rPr lang="en-US" sz="2900" b="0" i="0" kern="1200" baseline="0"/>
            <a:t>.</a:t>
          </a:r>
          <a:endParaRPr lang="en-US" sz="2900" kern="1200"/>
        </a:p>
      </dsp:txBody>
      <dsp:txXfrm>
        <a:off x="77847" y="84857"/>
        <a:ext cx="6464561" cy="1439016"/>
      </dsp:txXfrm>
    </dsp:sp>
    <dsp:sp modelId="{F6C7585F-F289-45B5-AEED-649044233F01}">
      <dsp:nvSpPr>
        <dsp:cNvPr id="0" name=""/>
        <dsp:cNvSpPr/>
      </dsp:nvSpPr>
      <dsp:spPr>
        <a:xfrm>
          <a:off x="0" y="1685240"/>
          <a:ext cx="6620255" cy="1594710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User Base:</a:t>
          </a:r>
          <a:r>
            <a:rPr lang="en-US" sz="2900" b="0" i="0" kern="1200" baseline="0"/>
            <a:t> Active engagement sustained across a user ecosystem of </a:t>
          </a:r>
          <a:r>
            <a:rPr lang="en-US" sz="2900" b="1" i="0" kern="1200" baseline="0"/>
            <a:t>28,028</a:t>
          </a:r>
          <a:r>
            <a:rPr lang="en-US" sz="2900" b="0" i="0" kern="1200" baseline="0"/>
            <a:t> total active users.</a:t>
          </a:r>
          <a:endParaRPr lang="en-US" sz="2900" kern="1200"/>
        </a:p>
      </dsp:txBody>
      <dsp:txXfrm>
        <a:off x="77847" y="1763087"/>
        <a:ext cx="6464561" cy="1439016"/>
      </dsp:txXfrm>
    </dsp:sp>
    <dsp:sp modelId="{4694A5AA-9AD3-40E9-A18F-9E0841535601}">
      <dsp:nvSpPr>
        <dsp:cNvPr id="0" name=""/>
        <dsp:cNvSpPr/>
      </dsp:nvSpPr>
      <dsp:spPr>
        <a:xfrm>
          <a:off x="0" y="3363471"/>
          <a:ext cx="6620255" cy="159471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Quality Benchmark:</a:t>
          </a:r>
          <a:r>
            <a:rPr lang="en-US" sz="2900" b="0" i="0" kern="1200" baseline="0"/>
            <a:t> Maintained a platform-wide Average Rating baseline of </a:t>
          </a:r>
          <a:r>
            <a:rPr lang="en-US" sz="2900" b="1" i="0" kern="1200" baseline="0"/>
            <a:t>2.93 / 5.00</a:t>
          </a:r>
          <a:r>
            <a:rPr lang="en-US" sz="2900" b="0" i="0" kern="1200" baseline="0"/>
            <a:t>.</a:t>
          </a:r>
          <a:endParaRPr lang="en-US" sz="2900" kern="1200"/>
        </a:p>
      </dsp:txBody>
      <dsp:txXfrm>
        <a:off x="77847" y="3441318"/>
        <a:ext cx="6464561" cy="14390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D8B5C-CD95-4EC0-9149-96D52E7667CD}">
      <dsp:nvSpPr>
        <dsp:cNvPr id="0" name=""/>
        <dsp:cNvSpPr/>
      </dsp:nvSpPr>
      <dsp:spPr>
        <a:xfrm>
          <a:off x="0" y="0"/>
          <a:ext cx="9483407" cy="11301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Targeted Scheduling:</a:t>
          </a:r>
          <a:r>
            <a:rPr lang="en-US" sz="2100" b="0" i="0" kern="1200" baseline="0"/>
            <a:t> Shift consultant login hours to mirror the major morning spike (</a:t>
          </a:r>
          <a:r>
            <a:rPr lang="en-US" sz="2100" b="1" i="0" kern="1200" baseline="0"/>
            <a:t>07:00–11:00</a:t>
          </a:r>
          <a:r>
            <a:rPr lang="en-US" sz="2100" b="0" i="0" kern="1200" baseline="0"/>
            <a:t>) to decrease the </a:t>
          </a:r>
          <a:r>
            <a:rPr lang="en-US" sz="2100" b="1" i="0" kern="1200" baseline="0"/>
            <a:t>1,270 Busy instances</a:t>
          </a:r>
          <a:r>
            <a:rPr lang="en-US" sz="2100" b="0" i="0" kern="1200" baseline="0"/>
            <a:t>.</a:t>
          </a:r>
          <a:endParaRPr lang="en-US" sz="2100" kern="1200"/>
        </a:p>
      </dsp:txBody>
      <dsp:txXfrm>
        <a:off x="33101" y="33101"/>
        <a:ext cx="8263896" cy="1063939"/>
      </dsp:txXfrm>
    </dsp:sp>
    <dsp:sp modelId="{B62E075F-DA7E-4FD5-9CDF-BBEF7FE18E0F}">
      <dsp:nvSpPr>
        <dsp:cNvPr id="0" name=""/>
        <dsp:cNvSpPr/>
      </dsp:nvSpPr>
      <dsp:spPr>
        <a:xfrm>
          <a:off x="836771" y="1318498"/>
          <a:ext cx="9483407" cy="1130141"/>
        </a:xfrm>
        <a:prstGeom prst="roundRect">
          <a:avLst>
            <a:gd name="adj" fmla="val 10000"/>
          </a:avLst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Feature Optimization:</a:t>
          </a:r>
          <a:r>
            <a:rPr lang="en-US" sz="2100" b="0" i="0" kern="1200" baseline="0"/>
            <a:t> Double down on mobile application enhancements, as the </a:t>
          </a:r>
          <a:r>
            <a:rPr lang="en-US" sz="2100" b="1" i="0" kern="1200" baseline="0"/>
            <a:t>App channel</a:t>
          </a:r>
          <a:r>
            <a:rPr lang="en-US" sz="2100" b="0" i="0" kern="1200" baseline="0"/>
            <a:t> hosts over 70% of user traffic.</a:t>
          </a:r>
          <a:endParaRPr lang="en-US" sz="2100" kern="1200"/>
        </a:p>
      </dsp:txBody>
      <dsp:txXfrm>
        <a:off x="869872" y="1351599"/>
        <a:ext cx="7845842" cy="1063939"/>
      </dsp:txXfrm>
    </dsp:sp>
    <dsp:sp modelId="{569C7ADC-42F4-4AC6-95EB-6C9EE089CC94}">
      <dsp:nvSpPr>
        <dsp:cNvPr id="0" name=""/>
        <dsp:cNvSpPr/>
      </dsp:nvSpPr>
      <dsp:spPr>
        <a:xfrm>
          <a:off x="1673542" y="2636996"/>
          <a:ext cx="9483407" cy="1130141"/>
        </a:xfrm>
        <a:prstGeom prst="roundRect">
          <a:avLst>
            <a:gd name="adj" fmla="val 10000"/>
          </a:avLst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Quality Intervention:</a:t>
          </a:r>
          <a:r>
            <a:rPr lang="en-US" sz="2100" b="0" i="0" kern="1200" baseline="0"/>
            <a:t> Introduce post-session incentives to address the high volume of 0-rated interactions, moving them toward verified user feedback loops.</a:t>
          </a:r>
          <a:endParaRPr lang="en-US" sz="2100" kern="1200"/>
        </a:p>
      </dsp:txBody>
      <dsp:txXfrm>
        <a:off x="1706643" y="2670097"/>
        <a:ext cx="7845842" cy="1063939"/>
      </dsp:txXfrm>
    </dsp:sp>
    <dsp:sp modelId="{1C58CEB8-CF39-438F-8AA0-59DE4C3C85E1}">
      <dsp:nvSpPr>
        <dsp:cNvPr id="0" name=""/>
        <dsp:cNvSpPr/>
      </dsp:nvSpPr>
      <dsp:spPr>
        <a:xfrm>
          <a:off x="8748815" y="857023"/>
          <a:ext cx="734591" cy="73459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914098" y="857023"/>
        <a:ext cx="404025" cy="552780"/>
      </dsp:txXfrm>
    </dsp:sp>
    <dsp:sp modelId="{371E18A7-0595-4E59-8A96-BDABED6031F5}">
      <dsp:nvSpPr>
        <dsp:cNvPr id="0" name=""/>
        <dsp:cNvSpPr/>
      </dsp:nvSpPr>
      <dsp:spPr>
        <a:xfrm>
          <a:off x="9585586" y="2167987"/>
          <a:ext cx="734591" cy="73459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047662"/>
            <a:satOff val="23918"/>
            <a:lumOff val="223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047662"/>
              <a:satOff val="23918"/>
              <a:lumOff val="22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750869" y="2167987"/>
        <a:ext cx="404025" cy="552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9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9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2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5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3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7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5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2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7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2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4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d.docs.live.net/3bc3ca933409557d/Documents/newton%20p/Astrosage-excel%20project.xlsx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65A92-BB5B-B1AE-9BC4-4746CA749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latin typeface="Bell MT" panose="02020503060305020303" pitchFamily="18" charset="0"/>
              </a:rPr>
              <a:t>AstroSage Capital Allocation &amp; Operational Optimization Strategy </a:t>
            </a:r>
            <a:endParaRPr lang="en-IN" sz="4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92C9B-E53C-A273-1A7D-ED2DC978B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i="0" dirty="0">
                <a:latin typeface="Bahnschrift" panose="020B0502040204020203" pitchFamily="34" charset="0"/>
              </a:rPr>
              <a:t>Deploying a 1 Crore INR Investment to Maximize Operational Efficiency, Profitability, and Customer Satisfaction </a:t>
            </a:r>
          </a:p>
          <a:p>
            <a:pPr>
              <a:lnSpc>
                <a:spcPct val="100000"/>
              </a:lnSpc>
            </a:pPr>
            <a:r>
              <a:rPr lang="en-IN" sz="1900" i="0" dirty="0">
                <a:latin typeface="Bahnschrift" panose="020B0502040204020203" pitchFamily="34" charset="0"/>
              </a:rPr>
              <a:t>MAITREYEE DEVI MAHANTA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3D0EE-C71F-4629-9F2D-FDF85FB61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7" r="6634" b="-1"/>
          <a:stretch>
            <a:fillRect/>
          </a:stretch>
        </p:blipFill>
        <p:spPr>
          <a:xfrm>
            <a:off x="7262949" y="828879"/>
            <a:ext cx="4439999" cy="5216275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2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F4BF5-B944-9682-9772-97AB7A5A4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Introduction &amp; Project Objective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896889B-EB4E-0C77-BD57-841B442659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964088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773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7EC16-4317-4C5A-BEB8-7CEBFECF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226C925-2F44-BC5D-9680-34DE68ED3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840563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46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7DA42-3E14-CB39-B891-B0242B2C5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Data Overview &amp; Dataset Composition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DDAA268-C264-E001-CDEC-FC05B930E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264406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98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7F171-68B4-0664-913D-7B33C53A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Analysis Methodology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7A5B32F-0B17-25D4-2B56-8391DD397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445179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314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FBD1C-97CA-BD0F-6107-AACD6855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Executive Performance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3B11F03-D517-D972-A98F-F805822141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711838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119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296AB-396A-043F-6856-C2AB1A77F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Platform &amp; Traffic Distribution</a:t>
            </a:r>
          </a:p>
        </p:txBody>
      </p:sp>
      <p:sp>
        <p:nvSpPr>
          <p:cNvPr id="18" name="Freeform: Shape 14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810E3C5-5011-F31B-9081-60A7BE16F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Mobile Dominance: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The "App" channel constitutes the overwhelming majority of user traffic with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20,225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entries.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Web Footprint: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Desktop or web-based "Dashboard" traffic accounts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7,800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of the interactions.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Direct Channel: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"Guru Call" direct entry points represent a minor fraction of the distribution with only 2 entries.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CC7CA6-45DE-4B7F-9E22-C5FE20476C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44277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64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8FF9A-BCF1-E213-CA15-8A134D38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Revenue Allocation by Consultation Type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3908D1-35BE-D525-62D7-C4302C6FA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Primary Driver: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"Call" consultations serve as the core revenue engine, contributing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₹1,68,442.03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Secondary Stream: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"Chat" services represent the second largest monetization segment at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₹45,464.08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Low/Non-Monetized: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"Public Live Calls" account for a marginal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₹58.59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while "Complimentary" offerings generate ₹0 net amount.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7738CF-E4C7-46AE-B42E-70E5D338D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709524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8947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E7B5A-D022-EE2D-E691-71F45B11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Hourly Call Volume Dynamics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0BB2D-C6CA-D15A-8275-BC5719A23260}"/>
              </a:ext>
            </a:extLst>
          </p:cNvPr>
          <p:cNvSpPr txBox="1"/>
          <p:nvPr/>
        </p:nvSpPr>
        <p:spPr>
          <a:xfrm>
            <a:off x="6153912" y="2578608"/>
            <a:ext cx="5513832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Peak Demand Windows: </a:t>
            </a:r>
            <a:r>
              <a:rPr lang="en-US" dirty="0"/>
              <a:t>Platform traffic experiences a steady climb starting at 05:00, peaking heavily between 07:00 and 11:00 (with Hour 8 exceeding 600 sessions).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Sustained Engagement: </a:t>
            </a:r>
            <a:r>
              <a:rPr lang="en-US" dirty="0"/>
              <a:t>A secondary steady operational block is sustained through the afternoon from 12:00 to 16:00.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Night Operations: </a:t>
            </a:r>
            <a:r>
              <a:rPr lang="en-US" dirty="0"/>
              <a:t>Interaction levels drop significantly after 20:00, reaching their lowest operational floor between 00:00 and 04:00.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69D735-A993-483F-BA7E-5983FEEA8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234848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679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9AEFA4-103C-B43C-EA3A-8039A2B2C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Macro Volume Trends (Daily Breakdown)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C19138-6B82-267E-EDA1-F0CFAE076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Volume Surge: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Highest platform activity spikes are visible around early-to-mid December, with a noticeable max peak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438 calls on 11-12-2023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Mid-Month Stabilization: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Traffic stabilizes into a predictable baseline oscillation of roughly 200–300 daily calls between Dec 15th and Dec 25th.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End-of-Cycle Taper: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 gradual downward trend is observed moving into late December and early January, closing near 107–150 calls.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2C93DF-553D-4314-B826-9234A0CE5D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858064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189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79599-FB10-5AE1-E44B-DFB31BFF0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sz="4100"/>
              <a:t>Platform Capacity &amp; Session Success Rate</a:t>
            </a:r>
          </a:p>
        </p:txBody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AF48C7-C04B-1D8B-B6B1-D97BCC3738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Fulfillment Efficiency: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majority volume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3,450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consultation attempts successfully reached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Completed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status.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Capacity Constraints: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total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1,270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attempts resulted in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Busy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status, highlighting moments of high demand or consultant unavailability.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Actionable Takeaway: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Optimizing consultant schedules during the "Busy" bottlenecks could unlock trapped revenue.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E6312CB-804E-42EE-AC81-9A419DC32C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470223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27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70505-CBBA-3E14-D4BB-B991F61B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Rating-Wise User Distribution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58FC43-0BB1-3913-180E-0479E846E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Polarized Baseline: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 significant volume of users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7,398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) recorded a baseline score of 0, indicating either unrated sessions or immediate friction.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Satisfied Clusters: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Secondary peaks are healthy and concentrated around the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2-star (4,328)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and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3-star (4,407)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marks.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High-Tier Retention: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Standard positive ratings drop off sequentially beyond the 3-star tier, trailing down past 4 and 5.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8F58E8-5B55-46BB-9D60-3538B5B0C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187916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8317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42FEA-420A-2278-C9FF-9CDDF1E60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Rating-Wise Guru Distribution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EAEC6A-6A5B-ADB2-E410-FB6916CB4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Unrated/New Profiles: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A massive share of consultants (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7,250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) sit at a 0-rating classification, indicating a high volume of inactive or newly boarded Gurus.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Core Active Fleet: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The bulk of proven, reviewed consultants maintain a reliable rating average between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2 and 3 stars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(~4,300+ gurus each).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Elite Stratum: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High-performing tier gurus (ratings 5 through 8) maintain a stable, uniform distribution of roughly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1,800 to 2,100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experts per tier.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8A079D-5330-4E04-8A4B-3C2879C378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56511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876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9C0E8-6A2E-6E0D-A512-DC02FFBC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sz="4100"/>
              <a:t>Top 10 Gurus by Consultation Volume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7F055C-285E-B70C-D7C9-16FD5CB04A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Volume Leader: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leading consultant dominates platform engagement with an individual consultation volume of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1,586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Top Tier Cluster: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top 4 consultants consistently clear the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1,000+ session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threshold, serving as critical operational pillars.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Consistent Output: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The remaining consultants in the top 10 display highly competitive, stable volume output ranging between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735 and 777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total interactions.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080F60-79E9-4361-962A-97A56CE74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168521"/>
              </p:ext>
            </p:extLst>
          </p:nvPr>
        </p:nvGraphicFramePr>
        <p:xfrm>
          <a:off x="517867" y="508090"/>
          <a:ext cx="4959823" cy="5837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9223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C5A72-C6FA-164F-970F-5A7725059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434" y="1375953"/>
            <a:ext cx="3397649" cy="284072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AstroSage Analytics Executive Dashboard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93A0A-5AB3-2364-B896-821242CC0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83" y="975108"/>
            <a:ext cx="8052736" cy="548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3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DC23D-10C2-D507-A124-2B93B6FF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IN" dirty="0"/>
              <a:t>Strategic Vision &amp; Targeted ROI Metrics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769D-40E1-F386-9A1D-37215E0A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IN" b="1"/>
              <a:t>Monetization Action Plan:</a:t>
            </a:r>
            <a:r>
              <a:rPr lang="en-IN"/>
              <a:t> Maximize the platform's financial yield by establishing a targeted 15% reduction in "Busy" status calls during peak hours (07:00–11:00) through data-driven consultant shift planning.</a:t>
            </a:r>
          </a:p>
          <a:p>
            <a:pPr lvl="1">
              <a:lnSpc>
                <a:spcPct val="100000"/>
              </a:lnSpc>
            </a:pPr>
            <a:r>
              <a:rPr lang="en-IN" b="1"/>
              <a:t>User Engagement Roadmap:</a:t>
            </a:r>
            <a:r>
              <a:rPr lang="en-IN"/>
              <a:t> Leverage the dominant mobile application footprint to deploy proactive, automated post-session feedback loops, systematically reducing the volume of unrated (0-star) profile distributions.</a:t>
            </a:r>
          </a:p>
          <a:p>
            <a:pPr>
              <a:lnSpc>
                <a:spcPct val="100000"/>
              </a:lnSpc>
            </a:pPr>
            <a:r>
              <a:rPr lang="en-IN"/>
              <a:t>📊 </a:t>
            </a:r>
            <a:r>
              <a:rPr lang="en-IN" b="1"/>
              <a:t>Data Reference Link:</a:t>
            </a:r>
            <a:r>
              <a:rPr lang="en-IN"/>
              <a:t> Detailed financial data breakdowns, raw transactional matrices, and dynamic KPI architectures are available for review in the source file </a:t>
            </a:r>
            <a:r>
              <a:rPr lang="en-IN">
                <a:hlinkClick r:id="rId2"/>
              </a:rPr>
              <a:t>https://d.docs.live.net/3bc3ca933409557d/Documents/newton%20p/Astrosage-excel%20project.xlsx</a:t>
            </a:r>
            <a:endParaRPr lang="en-IN"/>
          </a:p>
          <a:p>
            <a:pPr>
              <a:lnSpc>
                <a:spcPct val="100000"/>
              </a:lnSpc>
            </a:pPr>
            <a:endParaRPr lang="en-IN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044729ED-A9D8-A687-8B4D-6537EB998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8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07BF7-29F2-A216-FE33-903EC7B7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IN"/>
              <a:t>Strategic Recommendations &amp; Conclusion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E46D956-5B4E-C80B-650A-FCD0154E6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55846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666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1161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Bahnschrift</vt:lpstr>
      <vt:lpstr>Bell MT</vt:lpstr>
      <vt:lpstr>Bierstadt</vt:lpstr>
      <vt:lpstr>GestaltVTI</vt:lpstr>
      <vt:lpstr>AstroSage Capital Allocation &amp; Operational Optimization Strategy </vt:lpstr>
      <vt:lpstr>Introduction &amp; Project Objective</vt:lpstr>
      <vt:lpstr>Problem Statement</vt:lpstr>
      <vt:lpstr>Data Overview &amp; Dataset Composition</vt:lpstr>
      <vt:lpstr>Analysis Methodology</vt:lpstr>
      <vt:lpstr>Executive Performance Overview</vt:lpstr>
      <vt:lpstr>Platform &amp; Traffic Distribution</vt:lpstr>
      <vt:lpstr>Revenue Allocation by Consultation Type</vt:lpstr>
      <vt:lpstr>Hourly Call Volume Dynamics</vt:lpstr>
      <vt:lpstr>Macro Volume Trends (Daily Breakdown)</vt:lpstr>
      <vt:lpstr>Platform Capacity &amp; Session Success Rate</vt:lpstr>
      <vt:lpstr>Rating-Wise User Distribution</vt:lpstr>
      <vt:lpstr>Rating-Wise Guru Distribution</vt:lpstr>
      <vt:lpstr>Top 10 Gurus by Consultation Volume</vt:lpstr>
      <vt:lpstr>AstroSage Analytics Executive Dashboard</vt:lpstr>
      <vt:lpstr>Strategic Vision &amp; Targeted ROI Metrics</vt:lpstr>
      <vt:lpstr>Strategic 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AstroSage Capital Allocation &amp; Operational Optimization Strategy</dc:title>
  <dc:creator>Christina Samuel</dc:creator>
  <cp:lastModifiedBy>Maitreyee Mahanta</cp:lastModifiedBy>
  <cp:revision>2</cp:revision>
  <dcterms:created xsi:type="dcterms:W3CDTF">2026-06-05T18:07:48Z</dcterms:created>
  <dcterms:modified xsi:type="dcterms:W3CDTF">2026-07-30T15:03:51Z</dcterms:modified>
</cp:coreProperties>
</file>